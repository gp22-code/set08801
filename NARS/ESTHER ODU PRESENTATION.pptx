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0" r:id="rId1"/>
  </p:sldMasterIdLst>
  <p:notesMasterIdLst>
    <p:notesMasterId r:id="rId13"/>
  </p:notesMasterIdLst>
  <p:sldIdLst>
    <p:sldId id="256" r:id="rId2"/>
    <p:sldId id="293" r:id="rId3"/>
    <p:sldId id="305" r:id="rId4"/>
    <p:sldId id="257" r:id="rId5"/>
    <p:sldId id="258" r:id="rId6"/>
    <p:sldId id="298" r:id="rId7"/>
    <p:sldId id="306" r:id="rId8"/>
    <p:sldId id="307" r:id="rId9"/>
    <p:sldId id="308" r:id="rId10"/>
    <p:sldId id="309" r:id="rId11"/>
    <p:sldId id="310" r:id="rId12"/>
  </p:sldIdLst>
  <p:sldSz cx="19010313" cy="10693400"/>
  <p:notesSz cx="7556500" cy="10693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4" userDrawn="1">
          <p15:clr>
            <a:srgbClr val="A4A3A4"/>
          </p15:clr>
        </p15:guide>
        <p15:guide id="2" pos="11460" userDrawn="1">
          <p15:clr>
            <a:srgbClr val="A4A3A4"/>
          </p15:clr>
        </p15:guide>
        <p15:guide id="4" orient="horz" pos="2696" userDrawn="1">
          <p15:clr>
            <a:srgbClr val="A4A3A4"/>
          </p15:clr>
        </p15:guide>
        <p15:guide id="5" pos="612" userDrawn="1">
          <p15:clr>
            <a:srgbClr val="A4A3A4"/>
          </p15:clr>
        </p15:guide>
        <p15:guide id="6" pos="608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F00"/>
    <a:srgbClr val="E3B525"/>
    <a:srgbClr val="009EF3"/>
    <a:srgbClr val="FFA1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82" autoAdjust="0"/>
  </p:normalViewPr>
  <p:slideViewPr>
    <p:cSldViewPr>
      <p:cViewPr varScale="1">
        <p:scale>
          <a:sx n="47" d="100"/>
          <a:sy n="47" d="100"/>
        </p:scale>
        <p:origin x="612" y="54"/>
      </p:cViewPr>
      <p:guideLst>
        <p:guide orient="horz" pos="344"/>
        <p:guide pos="11460"/>
        <p:guide orient="horz" pos="2696"/>
        <p:guide pos="612"/>
        <p:guide pos="6087"/>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D8DA0D7-421E-4920-86D6-62485D79CF62}" type="doc">
      <dgm:prSet loTypeId="urn:microsoft.com/office/officeart/2005/8/layout/venn1" loCatId="relationship" qsTypeId="urn:microsoft.com/office/officeart/2005/8/quickstyle/simple1" qsCatId="simple" csTypeId="urn:microsoft.com/office/officeart/2005/8/colors/accent1_2" csCatId="accent1" phldr="1"/>
      <dgm:spPr/>
    </dgm:pt>
    <dgm:pt modelId="{54ABADA3-4872-4D71-911A-9DC0D4CA04D1}">
      <dgm:prSet phldrT="[Text]"/>
      <dgm:spPr/>
      <dgm:t>
        <a:bodyPr/>
        <a:lstStyle/>
        <a:p>
          <a:r>
            <a:rPr lang="en-US" dirty="0"/>
            <a:t>Individual B&amp;F</a:t>
          </a:r>
          <a:endParaRPr lang="en-GB" dirty="0"/>
        </a:p>
      </dgm:t>
    </dgm:pt>
    <dgm:pt modelId="{0AACDDA6-1637-4B97-BC06-FE25AFAA965F}" type="parTrans" cxnId="{4D7CF31B-3553-4B2E-98D1-162260088F24}">
      <dgm:prSet/>
      <dgm:spPr/>
      <dgm:t>
        <a:bodyPr/>
        <a:lstStyle/>
        <a:p>
          <a:endParaRPr lang="en-GB"/>
        </a:p>
      </dgm:t>
    </dgm:pt>
    <dgm:pt modelId="{4A9A7456-F74F-45E2-839E-6204371D91EC}" type="sibTrans" cxnId="{4D7CF31B-3553-4B2E-98D1-162260088F24}">
      <dgm:prSet/>
      <dgm:spPr/>
      <dgm:t>
        <a:bodyPr/>
        <a:lstStyle/>
        <a:p>
          <a:endParaRPr lang="en-GB"/>
        </a:p>
      </dgm:t>
    </dgm:pt>
    <dgm:pt modelId="{9FA00590-8F31-43BC-BF0B-D5D2DE232FFE}">
      <dgm:prSet phldrT="[Text]"/>
      <dgm:spPr/>
      <dgm:t>
        <a:bodyPr/>
        <a:lstStyle/>
        <a:p>
          <a:r>
            <a:rPr lang="en-US" dirty="0"/>
            <a:t>Organizational B&amp;F</a:t>
          </a:r>
          <a:endParaRPr lang="en-GB" dirty="0"/>
        </a:p>
      </dgm:t>
    </dgm:pt>
    <dgm:pt modelId="{B41E3C24-9660-4CE1-9D5E-8A2EC4B7FFF4}" type="parTrans" cxnId="{9559B23A-1FA5-4AD2-A7A7-D6F1C3FE7581}">
      <dgm:prSet/>
      <dgm:spPr/>
      <dgm:t>
        <a:bodyPr/>
        <a:lstStyle/>
        <a:p>
          <a:endParaRPr lang="en-GB"/>
        </a:p>
      </dgm:t>
    </dgm:pt>
    <dgm:pt modelId="{DE968890-DDF0-40B6-8D02-7CE0EB41C70C}" type="sibTrans" cxnId="{9559B23A-1FA5-4AD2-A7A7-D6F1C3FE7581}">
      <dgm:prSet/>
      <dgm:spPr/>
      <dgm:t>
        <a:bodyPr/>
        <a:lstStyle/>
        <a:p>
          <a:endParaRPr lang="en-GB"/>
        </a:p>
      </dgm:t>
    </dgm:pt>
    <dgm:pt modelId="{762E10C8-5EB9-45DB-A0D6-D3CB06202509}">
      <dgm:prSet phldrT="[Text]"/>
      <dgm:spPr/>
      <dgm:t>
        <a:bodyPr/>
        <a:lstStyle/>
        <a:p>
          <a:r>
            <a:rPr lang="en-US" dirty="0"/>
            <a:t>Technological B&amp;F</a:t>
          </a:r>
          <a:endParaRPr lang="en-GB" dirty="0"/>
        </a:p>
      </dgm:t>
    </dgm:pt>
    <dgm:pt modelId="{39DCB44D-990A-4473-BDD0-FDC9479047F3}" type="parTrans" cxnId="{31B2BACA-8B41-44BF-AEAD-6910F8AEB136}">
      <dgm:prSet/>
      <dgm:spPr/>
      <dgm:t>
        <a:bodyPr/>
        <a:lstStyle/>
        <a:p>
          <a:endParaRPr lang="en-GB"/>
        </a:p>
      </dgm:t>
    </dgm:pt>
    <dgm:pt modelId="{C7279033-85FA-4CF1-8DAC-41E630CDD17B}" type="sibTrans" cxnId="{31B2BACA-8B41-44BF-AEAD-6910F8AEB136}">
      <dgm:prSet/>
      <dgm:spPr/>
      <dgm:t>
        <a:bodyPr/>
        <a:lstStyle/>
        <a:p>
          <a:endParaRPr lang="en-GB"/>
        </a:p>
      </dgm:t>
    </dgm:pt>
    <dgm:pt modelId="{4595ED19-8988-4057-9964-8A751F6BD291}" type="pres">
      <dgm:prSet presAssocID="{6D8DA0D7-421E-4920-86D6-62485D79CF62}" presName="compositeShape" presStyleCnt="0">
        <dgm:presLayoutVars>
          <dgm:chMax val="7"/>
          <dgm:dir/>
          <dgm:resizeHandles val="exact"/>
        </dgm:presLayoutVars>
      </dgm:prSet>
      <dgm:spPr/>
    </dgm:pt>
    <dgm:pt modelId="{BAD6AAEA-C002-4D33-88F6-8A119605B4ED}" type="pres">
      <dgm:prSet presAssocID="{54ABADA3-4872-4D71-911A-9DC0D4CA04D1}" presName="circ1" presStyleLbl="vennNode1" presStyleIdx="0" presStyleCnt="3" custScaleX="198963" custScaleY="103682"/>
      <dgm:spPr/>
    </dgm:pt>
    <dgm:pt modelId="{182D1B10-563B-40AB-BB25-C6A9AFD0E7EA}" type="pres">
      <dgm:prSet presAssocID="{54ABADA3-4872-4D71-911A-9DC0D4CA04D1}" presName="circ1Tx" presStyleLbl="revTx" presStyleIdx="0" presStyleCnt="0">
        <dgm:presLayoutVars>
          <dgm:chMax val="0"/>
          <dgm:chPref val="0"/>
          <dgm:bulletEnabled val="1"/>
        </dgm:presLayoutVars>
      </dgm:prSet>
      <dgm:spPr/>
    </dgm:pt>
    <dgm:pt modelId="{C997D5EB-A854-401E-B157-19EAF882CA64}" type="pres">
      <dgm:prSet presAssocID="{9FA00590-8F31-43BC-BF0B-D5D2DE232FFE}" presName="circ2" presStyleLbl="vennNode1" presStyleIdx="1" presStyleCnt="3" custScaleX="210750" custScaleY="103915" custLinFactNeighborX="58803" custLinFactNeighborY="-14968"/>
      <dgm:spPr/>
    </dgm:pt>
    <dgm:pt modelId="{147E7E9E-A455-4F9E-9D01-B43E6240C38D}" type="pres">
      <dgm:prSet presAssocID="{9FA00590-8F31-43BC-BF0B-D5D2DE232FFE}" presName="circ2Tx" presStyleLbl="revTx" presStyleIdx="0" presStyleCnt="0">
        <dgm:presLayoutVars>
          <dgm:chMax val="0"/>
          <dgm:chPref val="0"/>
          <dgm:bulletEnabled val="1"/>
        </dgm:presLayoutVars>
      </dgm:prSet>
      <dgm:spPr/>
    </dgm:pt>
    <dgm:pt modelId="{EC37A1AF-D7FE-4A6E-908C-B98A37B6EFB7}" type="pres">
      <dgm:prSet presAssocID="{762E10C8-5EB9-45DB-A0D6-D3CB06202509}" presName="circ3" presStyleLbl="vennNode1" presStyleIdx="2" presStyleCnt="3" custScaleX="178773" custLinFactNeighborX="-31069" custLinFactNeighborY="-3825"/>
      <dgm:spPr/>
    </dgm:pt>
    <dgm:pt modelId="{8E263247-E21C-4F53-8A82-791714177E71}" type="pres">
      <dgm:prSet presAssocID="{762E10C8-5EB9-45DB-A0D6-D3CB06202509}" presName="circ3Tx" presStyleLbl="revTx" presStyleIdx="0" presStyleCnt="0">
        <dgm:presLayoutVars>
          <dgm:chMax val="0"/>
          <dgm:chPref val="0"/>
          <dgm:bulletEnabled val="1"/>
        </dgm:presLayoutVars>
      </dgm:prSet>
      <dgm:spPr/>
    </dgm:pt>
  </dgm:ptLst>
  <dgm:cxnLst>
    <dgm:cxn modelId="{4D7CF31B-3553-4B2E-98D1-162260088F24}" srcId="{6D8DA0D7-421E-4920-86D6-62485D79CF62}" destId="{54ABADA3-4872-4D71-911A-9DC0D4CA04D1}" srcOrd="0" destOrd="0" parTransId="{0AACDDA6-1637-4B97-BC06-FE25AFAA965F}" sibTransId="{4A9A7456-F74F-45E2-839E-6204371D91EC}"/>
    <dgm:cxn modelId="{01A0B420-71F1-4BE4-8CD8-89CC544AEC94}" type="presOf" srcId="{9FA00590-8F31-43BC-BF0B-D5D2DE232FFE}" destId="{C997D5EB-A854-401E-B157-19EAF882CA64}" srcOrd="0" destOrd="0" presId="urn:microsoft.com/office/officeart/2005/8/layout/venn1"/>
    <dgm:cxn modelId="{62D31037-905D-448D-98F2-43EFBF7C389B}" type="presOf" srcId="{54ABADA3-4872-4D71-911A-9DC0D4CA04D1}" destId="{BAD6AAEA-C002-4D33-88F6-8A119605B4ED}" srcOrd="0" destOrd="0" presId="urn:microsoft.com/office/officeart/2005/8/layout/venn1"/>
    <dgm:cxn modelId="{9559B23A-1FA5-4AD2-A7A7-D6F1C3FE7581}" srcId="{6D8DA0D7-421E-4920-86D6-62485D79CF62}" destId="{9FA00590-8F31-43BC-BF0B-D5D2DE232FFE}" srcOrd="1" destOrd="0" parTransId="{B41E3C24-9660-4CE1-9D5E-8A2EC4B7FFF4}" sibTransId="{DE968890-DDF0-40B6-8D02-7CE0EB41C70C}"/>
    <dgm:cxn modelId="{7B471961-F83F-479E-A4EC-BF0DEA53A3AA}" type="presOf" srcId="{54ABADA3-4872-4D71-911A-9DC0D4CA04D1}" destId="{182D1B10-563B-40AB-BB25-C6A9AFD0E7EA}" srcOrd="1" destOrd="0" presId="urn:microsoft.com/office/officeart/2005/8/layout/venn1"/>
    <dgm:cxn modelId="{D4CC6954-594A-4300-8C97-43CC653D9F5C}" type="presOf" srcId="{9FA00590-8F31-43BC-BF0B-D5D2DE232FFE}" destId="{147E7E9E-A455-4F9E-9D01-B43E6240C38D}" srcOrd="1" destOrd="0" presId="urn:microsoft.com/office/officeart/2005/8/layout/venn1"/>
    <dgm:cxn modelId="{C422A983-55CC-4AC2-8AFC-9A4584FA8855}" type="presOf" srcId="{6D8DA0D7-421E-4920-86D6-62485D79CF62}" destId="{4595ED19-8988-4057-9964-8A751F6BD291}" srcOrd="0" destOrd="0" presId="urn:microsoft.com/office/officeart/2005/8/layout/venn1"/>
    <dgm:cxn modelId="{31B2BACA-8B41-44BF-AEAD-6910F8AEB136}" srcId="{6D8DA0D7-421E-4920-86D6-62485D79CF62}" destId="{762E10C8-5EB9-45DB-A0D6-D3CB06202509}" srcOrd="2" destOrd="0" parTransId="{39DCB44D-990A-4473-BDD0-FDC9479047F3}" sibTransId="{C7279033-85FA-4CF1-8DAC-41E630CDD17B}"/>
    <dgm:cxn modelId="{EC736DE1-8908-42D0-B4A9-5DA534928012}" type="presOf" srcId="{762E10C8-5EB9-45DB-A0D6-D3CB06202509}" destId="{EC37A1AF-D7FE-4A6E-908C-B98A37B6EFB7}" srcOrd="0" destOrd="0" presId="urn:microsoft.com/office/officeart/2005/8/layout/venn1"/>
    <dgm:cxn modelId="{8AE619F9-AEE6-4214-82EC-FBE83C2B72F4}" type="presOf" srcId="{762E10C8-5EB9-45DB-A0D6-D3CB06202509}" destId="{8E263247-E21C-4F53-8A82-791714177E71}" srcOrd="1" destOrd="0" presId="urn:microsoft.com/office/officeart/2005/8/layout/venn1"/>
    <dgm:cxn modelId="{82F11EBA-2EFB-4C6F-9ECE-F3C36E9BDCCE}" type="presParOf" srcId="{4595ED19-8988-4057-9964-8A751F6BD291}" destId="{BAD6AAEA-C002-4D33-88F6-8A119605B4ED}" srcOrd="0" destOrd="0" presId="urn:microsoft.com/office/officeart/2005/8/layout/venn1"/>
    <dgm:cxn modelId="{EB37F1A6-41C8-432D-9A17-BEB5910F4820}" type="presParOf" srcId="{4595ED19-8988-4057-9964-8A751F6BD291}" destId="{182D1B10-563B-40AB-BB25-C6A9AFD0E7EA}" srcOrd="1" destOrd="0" presId="urn:microsoft.com/office/officeart/2005/8/layout/venn1"/>
    <dgm:cxn modelId="{402B51BD-B9BA-4A32-8CA8-6E0832E4DE37}" type="presParOf" srcId="{4595ED19-8988-4057-9964-8A751F6BD291}" destId="{C997D5EB-A854-401E-B157-19EAF882CA64}" srcOrd="2" destOrd="0" presId="urn:microsoft.com/office/officeart/2005/8/layout/venn1"/>
    <dgm:cxn modelId="{DE49734A-3AC1-4078-8D0A-73684C31DA83}" type="presParOf" srcId="{4595ED19-8988-4057-9964-8A751F6BD291}" destId="{147E7E9E-A455-4F9E-9D01-B43E6240C38D}" srcOrd="3" destOrd="0" presId="urn:microsoft.com/office/officeart/2005/8/layout/venn1"/>
    <dgm:cxn modelId="{09A35EC3-29BC-4723-9AE8-D4918CCB85CE}" type="presParOf" srcId="{4595ED19-8988-4057-9964-8A751F6BD291}" destId="{EC37A1AF-D7FE-4A6E-908C-B98A37B6EFB7}" srcOrd="4" destOrd="0" presId="urn:microsoft.com/office/officeart/2005/8/layout/venn1"/>
    <dgm:cxn modelId="{05D9DDF6-0C92-4E92-812F-60578FD00936}" type="presParOf" srcId="{4595ED19-8988-4057-9964-8A751F6BD291}" destId="{8E263247-E21C-4F53-8A82-791714177E71}" srcOrd="5"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D6AAEA-C002-4D33-88F6-8A119605B4ED}">
      <dsp:nvSpPr>
        <dsp:cNvPr id="0" name=""/>
        <dsp:cNvSpPr/>
      </dsp:nvSpPr>
      <dsp:spPr>
        <a:xfrm>
          <a:off x="1614639" y="3578"/>
          <a:ext cx="3867570" cy="2015437"/>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289050">
            <a:lnSpc>
              <a:spcPct val="90000"/>
            </a:lnSpc>
            <a:spcBef>
              <a:spcPct val="0"/>
            </a:spcBef>
            <a:spcAft>
              <a:spcPct val="35000"/>
            </a:spcAft>
            <a:buNone/>
          </a:pPr>
          <a:r>
            <a:rPr lang="en-US" sz="2900" kern="1200" dirty="0"/>
            <a:t>Individual B&amp;F</a:t>
          </a:r>
          <a:endParaRPr lang="en-GB" sz="2900" kern="1200" dirty="0"/>
        </a:p>
      </dsp:txBody>
      <dsp:txXfrm>
        <a:off x="2130315" y="356279"/>
        <a:ext cx="2836218" cy="906946"/>
      </dsp:txXfrm>
    </dsp:sp>
    <dsp:sp modelId="{C997D5EB-A854-401E-B157-19EAF882CA64}">
      <dsp:nvSpPr>
        <dsp:cNvPr id="0" name=""/>
        <dsp:cNvSpPr/>
      </dsp:nvSpPr>
      <dsp:spPr>
        <a:xfrm>
          <a:off x="3310949" y="925271"/>
          <a:ext cx="4096694" cy="201996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r>
            <a:rPr lang="en-US" sz="2800" kern="1200" dirty="0"/>
            <a:t>Organizational B&amp;F</a:t>
          </a:r>
          <a:endParaRPr lang="en-GB" sz="2800" kern="1200" dirty="0"/>
        </a:p>
      </dsp:txBody>
      <dsp:txXfrm>
        <a:off x="4563855" y="1447096"/>
        <a:ext cx="2458016" cy="1110981"/>
      </dsp:txXfrm>
    </dsp:sp>
    <dsp:sp modelId="{EC37A1AF-D7FE-4A6E-908C-B98A37B6EFB7}">
      <dsp:nvSpPr>
        <dsp:cNvPr id="0" name=""/>
        <dsp:cNvSpPr/>
      </dsp:nvSpPr>
      <dsp:spPr>
        <a:xfrm>
          <a:off x="505521" y="1179927"/>
          <a:ext cx="3475104" cy="1943864"/>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200150">
            <a:lnSpc>
              <a:spcPct val="90000"/>
            </a:lnSpc>
            <a:spcBef>
              <a:spcPct val="0"/>
            </a:spcBef>
            <a:spcAft>
              <a:spcPct val="35000"/>
            </a:spcAft>
            <a:buNone/>
          </a:pPr>
          <a:r>
            <a:rPr lang="en-US" sz="2700" kern="1200" dirty="0"/>
            <a:t>Technological B&amp;F</a:t>
          </a:r>
          <a:endParaRPr lang="en-GB" sz="2700" kern="1200" dirty="0"/>
        </a:p>
      </dsp:txBody>
      <dsp:txXfrm>
        <a:off x="832760" y="1682092"/>
        <a:ext cx="2085062" cy="1069125"/>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5013" cy="536575"/>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4279900" y="0"/>
            <a:ext cx="3275013" cy="536575"/>
          </a:xfrm>
          <a:prstGeom prst="rect">
            <a:avLst/>
          </a:prstGeom>
        </p:spPr>
        <p:txBody>
          <a:bodyPr vert="horz" lIns="91440" tIns="45720" rIns="91440" bIns="45720" rtlCol="0"/>
          <a:lstStyle>
            <a:lvl1pPr algn="r">
              <a:defRPr sz="1200"/>
            </a:lvl1pPr>
          </a:lstStyle>
          <a:p>
            <a:fld id="{A2BF3456-A29E-41FE-BFB7-B24F24BEE47B}" type="datetimeFigureOut">
              <a:rPr lang="cs-CZ" smtClean="0"/>
              <a:t>30.12.2025</a:t>
            </a:fld>
            <a:endParaRPr lang="cs-CZ"/>
          </a:p>
        </p:txBody>
      </p:sp>
      <p:sp>
        <p:nvSpPr>
          <p:cNvPr id="4" name="Slide Image Placeholder 3"/>
          <p:cNvSpPr>
            <a:spLocks noGrp="1" noRot="1" noChangeAspect="1"/>
          </p:cNvSpPr>
          <p:nvPr>
            <p:ph type="sldImg" idx="2"/>
          </p:nvPr>
        </p:nvSpPr>
        <p:spPr>
          <a:xfrm>
            <a:off x="571500" y="1336675"/>
            <a:ext cx="6413500" cy="3608388"/>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755650" y="5146675"/>
            <a:ext cx="6045200" cy="42100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10156825"/>
            <a:ext cx="3275013" cy="536575"/>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4279900" y="10156825"/>
            <a:ext cx="3275013" cy="536575"/>
          </a:xfrm>
          <a:prstGeom prst="rect">
            <a:avLst/>
          </a:prstGeom>
        </p:spPr>
        <p:txBody>
          <a:bodyPr vert="horz" lIns="91440" tIns="45720" rIns="91440" bIns="45720" rtlCol="0" anchor="b"/>
          <a:lstStyle>
            <a:lvl1pPr algn="r">
              <a:defRPr sz="1200"/>
            </a:lvl1pPr>
          </a:lstStyle>
          <a:p>
            <a:fld id="{DD95B543-0236-4AEE-9F15-C7CF1150485F}" type="slidenum">
              <a:rPr lang="cs-CZ" smtClean="0"/>
              <a:t>‹#›</a:t>
            </a:fld>
            <a:endParaRPr lang="cs-CZ"/>
          </a:p>
        </p:txBody>
      </p:sp>
    </p:spTree>
    <p:extLst>
      <p:ext uri="{BB962C8B-B14F-4D97-AF65-F5344CB8AC3E}">
        <p14:creationId xmlns:p14="http://schemas.microsoft.com/office/powerpoint/2010/main" val="5225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cs-CZ" dirty="0"/>
          </a:p>
        </p:txBody>
      </p:sp>
      <p:sp>
        <p:nvSpPr>
          <p:cNvPr id="4" name="Slide Number Placeholder 3"/>
          <p:cNvSpPr>
            <a:spLocks noGrp="1"/>
          </p:cNvSpPr>
          <p:nvPr>
            <p:ph type="sldNum" sz="quarter" idx="5"/>
          </p:nvPr>
        </p:nvSpPr>
        <p:spPr/>
        <p:txBody>
          <a:bodyPr/>
          <a:lstStyle/>
          <a:p>
            <a:fld id="{DD95B543-0236-4AEE-9F15-C7CF1150485F}" type="slidenum">
              <a:rPr lang="cs-CZ" smtClean="0"/>
              <a:t>1</a:t>
            </a:fld>
            <a:endParaRPr lang="cs-CZ"/>
          </a:p>
        </p:txBody>
      </p:sp>
    </p:spTree>
    <p:extLst>
      <p:ext uri="{BB962C8B-B14F-4D97-AF65-F5344CB8AC3E}">
        <p14:creationId xmlns:p14="http://schemas.microsoft.com/office/powerpoint/2010/main" val="4407332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7A907-1EC9-90B3-E798-9710ABC10C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20F793-574D-3748-8DB5-C36E5192E0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914AAA-7C97-ACD6-68A5-8EAA331906B5}"/>
              </a:ext>
            </a:extLst>
          </p:cNvPr>
          <p:cNvSpPr>
            <a:spLocks noGrp="1"/>
          </p:cNvSpPr>
          <p:nvPr>
            <p:ph type="body" idx="1"/>
          </p:nvPr>
        </p:nvSpPr>
        <p:spPr/>
        <p:txBody>
          <a:bodyPr/>
          <a:lstStyle/>
          <a:p>
            <a:endParaRPr lang="cs-CZ" dirty="0"/>
          </a:p>
        </p:txBody>
      </p:sp>
      <p:sp>
        <p:nvSpPr>
          <p:cNvPr id="4" name="Slide Number Placeholder 3">
            <a:extLst>
              <a:ext uri="{FF2B5EF4-FFF2-40B4-BE49-F238E27FC236}">
                <a16:creationId xmlns:a16="http://schemas.microsoft.com/office/drawing/2014/main" id="{BB4B53E9-906B-AC64-5FF1-9ED779B02FD3}"/>
              </a:ext>
            </a:extLst>
          </p:cNvPr>
          <p:cNvSpPr>
            <a:spLocks noGrp="1"/>
          </p:cNvSpPr>
          <p:nvPr>
            <p:ph type="sldNum" sz="quarter" idx="5"/>
          </p:nvPr>
        </p:nvSpPr>
        <p:spPr/>
        <p:txBody>
          <a:bodyPr/>
          <a:lstStyle/>
          <a:p>
            <a:fld id="{DD95B543-0236-4AEE-9F15-C7CF1150485F}" type="slidenum">
              <a:rPr lang="cs-CZ" smtClean="0"/>
              <a:t>11</a:t>
            </a:fld>
            <a:endParaRPr lang="cs-CZ"/>
          </a:p>
        </p:txBody>
      </p:sp>
    </p:spTree>
    <p:extLst>
      <p:ext uri="{BB962C8B-B14F-4D97-AF65-F5344CB8AC3E}">
        <p14:creationId xmlns:p14="http://schemas.microsoft.com/office/powerpoint/2010/main" val="14707417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76289" y="1750055"/>
            <a:ext cx="14257735" cy="3722887"/>
          </a:xfrm>
        </p:spPr>
        <p:txBody>
          <a:bodyPr anchor="b"/>
          <a:lstStyle>
            <a:lvl1pPr algn="ctr">
              <a:defRPr sz="9355"/>
            </a:lvl1pPr>
          </a:lstStyle>
          <a:p>
            <a:r>
              <a:rPr lang="en-US"/>
              <a:t>Click to edit Master title style</a:t>
            </a:r>
            <a:endParaRPr lang="en-US" dirty="0"/>
          </a:p>
        </p:txBody>
      </p:sp>
      <p:sp>
        <p:nvSpPr>
          <p:cNvPr id="3" name="Subtitle 2"/>
          <p:cNvSpPr>
            <a:spLocks noGrp="1"/>
          </p:cNvSpPr>
          <p:nvPr>
            <p:ph type="subTitle" idx="1"/>
          </p:nvPr>
        </p:nvSpPr>
        <p:spPr>
          <a:xfrm>
            <a:off x="2376289" y="5616511"/>
            <a:ext cx="14257735" cy="2581762"/>
          </a:xfrm>
        </p:spPr>
        <p:txBody>
          <a:bodyPr/>
          <a:lstStyle>
            <a:lvl1pPr marL="0" indent="0" algn="ctr">
              <a:buNone/>
              <a:defRPr sz="3742"/>
            </a:lvl1pPr>
            <a:lvl2pPr marL="712866" indent="0" algn="ctr">
              <a:buNone/>
              <a:defRPr sz="3118"/>
            </a:lvl2pPr>
            <a:lvl3pPr marL="1425732" indent="0" algn="ctr">
              <a:buNone/>
              <a:defRPr sz="2807"/>
            </a:lvl3pPr>
            <a:lvl4pPr marL="2138599" indent="0" algn="ctr">
              <a:buNone/>
              <a:defRPr sz="2495"/>
            </a:lvl4pPr>
            <a:lvl5pPr marL="2851465" indent="0" algn="ctr">
              <a:buNone/>
              <a:defRPr sz="2495"/>
            </a:lvl5pPr>
            <a:lvl6pPr marL="3564331" indent="0" algn="ctr">
              <a:buNone/>
              <a:defRPr sz="2495"/>
            </a:lvl6pPr>
            <a:lvl7pPr marL="4277197" indent="0" algn="ctr">
              <a:buNone/>
              <a:defRPr sz="2495"/>
            </a:lvl7pPr>
            <a:lvl8pPr marL="4990064" indent="0" algn="ctr">
              <a:buNone/>
              <a:defRPr sz="2495"/>
            </a:lvl8pPr>
            <a:lvl9pPr marL="5702930" indent="0" algn="ctr">
              <a:buNone/>
              <a:defRPr sz="2495"/>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FE27129-1408-44F6-849B-A1D4E35AB39C}" type="datetime1">
              <a:rPr lang="en-US" smtClean="0"/>
              <a:t>12/30/2025</a:t>
            </a:fld>
            <a:endParaRPr lang="en-US" dirty="0"/>
          </a:p>
        </p:txBody>
      </p:sp>
      <p:sp>
        <p:nvSpPr>
          <p:cNvPr id="5" name="Footer Placeholder 4"/>
          <p:cNvSpPr>
            <a:spLocks noGrp="1"/>
          </p:cNvSpPr>
          <p:nvPr>
            <p:ph type="ftr" sz="quarter" idx="11"/>
          </p:nvPr>
        </p:nvSpPr>
        <p:spPr/>
        <p:txBody>
          <a:bodyPr/>
          <a:lstStyle/>
          <a:p>
            <a:r>
              <a:rPr lang="en-US"/>
              <a:t>NARS Exploring Research in Nursing </a:t>
            </a:r>
            <a:endParaRPr lang="cs-CZ"/>
          </a:p>
        </p:txBody>
      </p:sp>
      <p:sp>
        <p:nvSpPr>
          <p:cNvPr id="6" name="Slide Number Placeholder 5"/>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3329698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382C48-0092-4126-8FED-7B8901DC2068}" type="datetime1">
              <a:rPr lang="en-US" smtClean="0"/>
              <a:t>12/30/2025</a:t>
            </a:fld>
            <a:endParaRPr lang="en-US" dirty="0"/>
          </a:p>
        </p:txBody>
      </p:sp>
      <p:sp>
        <p:nvSpPr>
          <p:cNvPr id="5" name="Footer Placeholder 4"/>
          <p:cNvSpPr>
            <a:spLocks noGrp="1"/>
          </p:cNvSpPr>
          <p:nvPr>
            <p:ph type="ftr" sz="quarter" idx="11"/>
          </p:nvPr>
        </p:nvSpPr>
        <p:spPr/>
        <p:txBody>
          <a:bodyPr/>
          <a:lstStyle/>
          <a:p>
            <a:r>
              <a:rPr lang="en-US"/>
              <a:t>NARS Exploring Research in Nursing </a:t>
            </a:r>
            <a:endParaRPr lang="cs-CZ"/>
          </a:p>
        </p:txBody>
      </p:sp>
      <p:sp>
        <p:nvSpPr>
          <p:cNvPr id="6" name="Slide Number Placeholder 5"/>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1239549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7058" y="2665925"/>
            <a:ext cx="16396395" cy="4448157"/>
          </a:xfrm>
        </p:spPr>
        <p:txBody>
          <a:bodyPr anchor="b"/>
          <a:lstStyle>
            <a:lvl1pPr>
              <a:defRPr sz="9355"/>
            </a:lvl1pPr>
          </a:lstStyle>
          <a:p>
            <a:r>
              <a:rPr lang="en-US"/>
              <a:t>Click to edit Master title style</a:t>
            </a:r>
            <a:endParaRPr lang="en-US" dirty="0"/>
          </a:p>
        </p:txBody>
      </p:sp>
      <p:sp>
        <p:nvSpPr>
          <p:cNvPr id="3" name="Text Placeholder 2"/>
          <p:cNvSpPr>
            <a:spLocks noGrp="1"/>
          </p:cNvSpPr>
          <p:nvPr>
            <p:ph type="body" idx="1"/>
          </p:nvPr>
        </p:nvSpPr>
        <p:spPr>
          <a:xfrm>
            <a:off x="1297058" y="7156164"/>
            <a:ext cx="16396395" cy="2339180"/>
          </a:xfrm>
        </p:spPr>
        <p:txBody>
          <a:bodyPr/>
          <a:lstStyle>
            <a:lvl1pPr marL="0" indent="0">
              <a:buNone/>
              <a:defRPr sz="3742">
                <a:solidFill>
                  <a:schemeClr val="tx1">
                    <a:tint val="75000"/>
                  </a:schemeClr>
                </a:solidFill>
              </a:defRPr>
            </a:lvl1pPr>
            <a:lvl2pPr marL="712866" indent="0">
              <a:buNone/>
              <a:defRPr sz="3118">
                <a:solidFill>
                  <a:schemeClr val="tx1">
                    <a:tint val="75000"/>
                  </a:schemeClr>
                </a:solidFill>
              </a:defRPr>
            </a:lvl2pPr>
            <a:lvl3pPr marL="1425732" indent="0">
              <a:buNone/>
              <a:defRPr sz="2807">
                <a:solidFill>
                  <a:schemeClr val="tx1">
                    <a:tint val="75000"/>
                  </a:schemeClr>
                </a:solidFill>
              </a:defRPr>
            </a:lvl3pPr>
            <a:lvl4pPr marL="2138599" indent="0">
              <a:buNone/>
              <a:defRPr sz="2495">
                <a:solidFill>
                  <a:schemeClr val="tx1">
                    <a:tint val="75000"/>
                  </a:schemeClr>
                </a:solidFill>
              </a:defRPr>
            </a:lvl4pPr>
            <a:lvl5pPr marL="2851465" indent="0">
              <a:buNone/>
              <a:defRPr sz="2495">
                <a:solidFill>
                  <a:schemeClr val="tx1">
                    <a:tint val="75000"/>
                  </a:schemeClr>
                </a:solidFill>
              </a:defRPr>
            </a:lvl5pPr>
            <a:lvl6pPr marL="3564331" indent="0">
              <a:buNone/>
              <a:defRPr sz="2495">
                <a:solidFill>
                  <a:schemeClr val="tx1">
                    <a:tint val="75000"/>
                  </a:schemeClr>
                </a:solidFill>
              </a:defRPr>
            </a:lvl6pPr>
            <a:lvl7pPr marL="4277197" indent="0">
              <a:buNone/>
              <a:defRPr sz="2495">
                <a:solidFill>
                  <a:schemeClr val="tx1">
                    <a:tint val="75000"/>
                  </a:schemeClr>
                </a:solidFill>
              </a:defRPr>
            </a:lvl7pPr>
            <a:lvl8pPr marL="4990064" indent="0">
              <a:buNone/>
              <a:defRPr sz="2495">
                <a:solidFill>
                  <a:schemeClr val="tx1">
                    <a:tint val="75000"/>
                  </a:schemeClr>
                </a:solidFill>
              </a:defRPr>
            </a:lvl8pPr>
            <a:lvl9pPr marL="5702930" indent="0">
              <a:buNone/>
              <a:defRPr sz="249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4CA542-BC17-4A01-9EBB-0A8314E84052}" type="datetime1">
              <a:rPr lang="en-US" smtClean="0"/>
              <a:t>12/30/2025</a:t>
            </a:fld>
            <a:endParaRPr lang="en-US" dirty="0"/>
          </a:p>
        </p:txBody>
      </p:sp>
      <p:sp>
        <p:nvSpPr>
          <p:cNvPr id="5" name="Footer Placeholder 4"/>
          <p:cNvSpPr>
            <a:spLocks noGrp="1"/>
          </p:cNvSpPr>
          <p:nvPr>
            <p:ph type="ftr" sz="quarter" idx="11"/>
          </p:nvPr>
        </p:nvSpPr>
        <p:spPr/>
        <p:txBody>
          <a:bodyPr/>
          <a:lstStyle/>
          <a:p>
            <a:r>
              <a:rPr lang="en-US"/>
              <a:t>NARS Exploring Research in Nursing </a:t>
            </a:r>
            <a:endParaRPr lang="cs-CZ"/>
          </a:p>
        </p:txBody>
      </p:sp>
      <p:sp>
        <p:nvSpPr>
          <p:cNvPr id="6" name="Slide Number Placeholder 5"/>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2172319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306959" y="2846623"/>
            <a:ext cx="8079383" cy="6784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623971" y="2846623"/>
            <a:ext cx="8079383" cy="6784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ADEE7B-2D33-4779-95B8-D44F2B392E5D}" type="datetime1">
              <a:rPr lang="en-US" smtClean="0"/>
              <a:t>12/30/2025</a:t>
            </a:fld>
            <a:endParaRPr lang="en-US" dirty="0"/>
          </a:p>
        </p:txBody>
      </p:sp>
      <p:sp>
        <p:nvSpPr>
          <p:cNvPr id="6" name="Footer Placeholder 5"/>
          <p:cNvSpPr>
            <a:spLocks noGrp="1"/>
          </p:cNvSpPr>
          <p:nvPr>
            <p:ph type="ftr" sz="quarter" idx="11"/>
          </p:nvPr>
        </p:nvSpPr>
        <p:spPr/>
        <p:txBody>
          <a:bodyPr/>
          <a:lstStyle/>
          <a:p>
            <a:r>
              <a:rPr lang="en-US"/>
              <a:t>NARS Exploring Research in Nursing </a:t>
            </a:r>
            <a:endParaRPr lang="cs-CZ"/>
          </a:p>
        </p:txBody>
      </p:sp>
      <p:sp>
        <p:nvSpPr>
          <p:cNvPr id="7" name="Slide Number Placeholder 6"/>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1279570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09435" y="569326"/>
            <a:ext cx="16396395" cy="206689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09436" y="2621369"/>
            <a:ext cx="8042253" cy="1284692"/>
          </a:xfrm>
        </p:spPr>
        <p:txBody>
          <a:bodyPr anchor="b"/>
          <a:lstStyle>
            <a:lvl1pPr marL="0" indent="0">
              <a:buNone/>
              <a:defRPr sz="3742" b="1"/>
            </a:lvl1pPr>
            <a:lvl2pPr marL="712866" indent="0">
              <a:buNone/>
              <a:defRPr sz="3118" b="1"/>
            </a:lvl2pPr>
            <a:lvl3pPr marL="1425732" indent="0">
              <a:buNone/>
              <a:defRPr sz="2807" b="1"/>
            </a:lvl3pPr>
            <a:lvl4pPr marL="2138599" indent="0">
              <a:buNone/>
              <a:defRPr sz="2495" b="1"/>
            </a:lvl4pPr>
            <a:lvl5pPr marL="2851465" indent="0">
              <a:buNone/>
              <a:defRPr sz="2495" b="1"/>
            </a:lvl5pPr>
            <a:lvl6pPr marL="3564331" indent="0">
              <a:buNone/>
              <a:defRPr sz="2495" b="1"/>
            </a:lvl6pPr>
            <a:lvl7pPr marL="4277197" indent="0">
              <a:buNone/>
              <a:defRPr sz="2495" b="1"/>
            </a:lvl7pPr>
            <a:lvl8pPr marL="4990064" indent="0">
              <a:buNone/>
              <a:defRPr sz="2495" b="1"/>
            </a:lvl8pPr>
            <a:lvl9pPr marL="5702930" indent="0">
              <a:buNone/>
              <a:defRPr sz="2495" b="1"/>
            </a:lvl9pPr>
          </a:lstStyle>
          <a:p>
            <a:pPr lvl="0"/>
            <a:r>
              <a:rPr lang="en-US"/>
              <a:t>Click to edit Master text styles</a:t>
            </a:r>
          </a:p>
        </p:txBody>
      </p:sp>
      <p:sp>
        <p:nvSpPr>
          <p:cNvPr id="4" name="Content Placeholder 3"/>
          <p:cNvSpPr>
            <a:spLocks noGrp="1"/>
          </p:cNvSpPr>
          <p:nvPr>
            <p:ph sz="half" idx="2"/>
          </p:nvPr>
        </p:nvSpPr>
        <p:spPr>
          <a:xfrm>
            <a:off x="1309436" y="3906061"/>
            <a:ext cx="8042253" cy="5745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623971" y="2621369"/>
            <a:ext cx="8081859" cy="1284692"/>
          </a:xfrm>
        </p:spPr>
        <p:txBody>
          <a:bodyPr anchor="b"/>
          <a:lstStyle>
            <a:lvl1pPr marL="0" indent="0">
              <a:buNone/>
              <a:defRPr sz="3742" b="1"/>
            </a:lvl1pPr>
            <a:lvl2pPr marL="712866" indent="0">
              <a:buNone/>
              <a:defRPr sz="3118" b="1"/>
            </a:lvl2pPr>
            <a:lvl3pPr marL="1425732" indent="0">
              <a:buNone/>
              <a:defRPr sz="2807" b="1"/>
            </a:lvl3pPr>
            <a:lvl4pPr marL="2138599" indent="0">
              <a:buNone/>
              <a:defRPr sz="2495" b="1"/>
            </a:lvl4pPr>
            <a:lvl5pPr marL="2851465" indent="0">
              <a:buNone/>
              <a:defRPr sz="2495" b="1"/>
            </a:lvl5pPr>
            <a:lvl6pPr marL="3564331" indent="0">
              <a:buNone/>
              <a:defRPr sz="2495" b="1"/>
            </a:lvl6pPr>
            <a:lvl7pPr marL="4277197" indent="0">
              <a:buNone/>
              <a:defRPr sz="2495" b="1"/>
            </a:lvl7pPr>
            <a:lvl8pPr marL="4990064" indent="0">
              <a:buNone/>
              <a:defRPr sz="2495" b="1"/>
            </a:lvl8pPr>
            <a:lvl9pPr marL="5702930" indent="0">
              <a:buNone/>
              <a:defRPr sz="2495" b="1"/>
            </a:lvl9pPr>
          </a:lstStyle>
          <a:p>
            <a:pPr lvl="0"/>
            <a:r>
              <a:rPr lang="en-US"/>
              <a:t>Click to edit Master text styles</a:t>
            </a:r>
          </a:p>
        </p:txBody>
      </p:sp>
      <p:sp>
        <p:nvSpPr>
          <p:cNvPr id="6" name="Content Placeholder 5"/>
          <p:cNvSpPr>
            <a:spLocks noGrp="1"/>
          </p:cNvSpPr>
          <p:nvPr>
            <p:ph sz="quarter" idx="4"/>
          </p:nvPr>
        </p:nvSpPr>
        <p:spPr>
          <a:xfrm>
            <a:off x="9623971" y="3906061"/>
            <a:ext cx="8081859" cy="5745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01625E1-A891-4F9A-959E-0CC89DD0272A}" type="datetime1">
              <a:rPr lang="en-US" smtClean="0"/>
              <a:t>12/30/2025</a:t>
            </a:fld>
            <a:endParaRPr lang="en-US" dirty="0"/>
          </a:p>
        </p:txBody>
      </p:sp>
      <p:sp>
        <p:nvSpPr>
          <p:cNvPr id="8" name="Footer Placeholder 7"/>
          <p:cNvSpPr>
            <a:spLocks noGrp="1"/>
          </p:cNvSpPr>
          <p:nvPr>
            <p:ph type="ftr" sz="quarter" idx="11"/>
          </p:nvPr>
        </p:nvSpPr>
        <p:spPr/>
        <p:txBody>
          <a:bodyPr/>
          <a:lstStyle/>
          <a:p>
            <a:r>
              <a:rPr lang="en-US"/>
              <a:t>NARS Exploring Research in Nursing </a:t>
            </a:r>
            <a:endParaRPr lang="cs-CZ"/>
          </a:p>
        </p:txBody>
      </p:sp>
      <p:sp>
        <p:nvSpPr>
          <p:cNvPr id="9" name="Slide Number Placeholder 8"/>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3290775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7CCE2E-0323-417D-9A26-63AB591956E2}" type="datetime1">
              <a:rPr lang="en-US" smtClean="0"/>
              <a:t>12/30/2025</a:t>
            </a:fld>
            <a:endParaRPr lang="en-US" dirty="0"/>
          </a:p>
        </p:txBody>
      </p:sp>
      <p:sp>
        <p:nvSpPr>
          <p:cNvPr id="4" name="Footer Placeholder 3"/>
          <p:cNvSpPr>
            <a:spLocks noGrp="1"/>
          </p:cNvSpPr>
          <p:nvPr>
            <p:ph type="ftr" sz="quarter" idx="11"/>
          </p:nvPr>
        </p:nvSpPr>
        <p:spPr/>
        <p:txBody>
          <a:bodyPr/>
          <a:lstStyle/>
          <a:p>
            <a:r>
              <a:rPr lang="en-US"/>
              <a:t>NARS Exploring Research in Nursing </a:t>
            </a:r>
            <a:endParaRPr lang="cs-CZ"/>
          </a:p>
        </p:txBody>
      </p:sp>
      <p:sp>
        <p:nvSpPr>
          <p:cNvPr id="5" name="Slide Number Placeholder 4"/>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1906622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F78166-C536-4DDF-8748-C4C4E78C4DAA}" type="datetime1">
              <a:rPr lang="en-US" smtClean="0"/>
              <a:t>12/30/2025</a:t>
            </a:fld>
            <a:endParaRPr lang="en-US" dirty="0"/>
          </a:p>
        </p:txBody>
      </p:sp>
      <p:sp>
        <p:nvSpPr>
          <p:cNvPr id="3" name="Footer Placeholder 2"/>
          <p:cNvSpPr>
            <a:spLocks noGrp="1"/>
          </p:cNvSpPr>
          <p:nvPr>
            <p:ph type="ftr" sz="quarter" idx="11"/>
          </p:nvPr>
        </p:nvSpPr>
        <p:spPr/>
        <p:txBody>
          <a:bodyPr/>
          <a:lstStyle/>
          <a:p>
            <a:r>
              <a:rPr lang="en-US"/>
              <a:t>NARS Exploring Research in Nursing </a:t>
            </a:r>
            <a:endParaRPr lang="cs-CZ"/>
          </a:p>
        </p:txBody>
      </p:sp>
      <p:sp>
        <p:nvSpPr>
          <p:cNvPr id="4" name="Slide Number Placeholder 3"/>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632000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09436" y="712893"/>
            <a:ext cx="6131320" cy="2495127"/>
          </a:xfrm>
        </p:spPr>
        <p:txBody>
          <a:bodyPr anchor="b"/>
          <a:lstStyle>
            <a:lvl1pPr>
              <a:defRPr sz="4989"/>
            </a:lvl1pPr>
          </a:lstStyle>
          <a:p>
            <a:r>
              <a:rPr lang="en-US"/>
              <a:t>Click to edit Master title style</a:t>
            </a:r>
            <a:endParaRPr lang="en-US" dirty="0"/>
          </a:p>
        </p:txBody>
      </p:sp>
      <p:sp>
        <p:nvSpPr>
          <p:cNvPr id="3" name="Content Placeholder 2"/>
          <p:cNvSpPr>
            <a:spLocks noGrp="1"/>
          </p:cNvSpPr>
          <p:nvPr>
            <p:ph idx="1"/>
          </p:nvPr>
        </p:nvSpPr>
        <p:spPr>
          <a:xfrm>
            <a:off x="8081859" y="1539652"/>
            <a:ext cx="9623971" cy="7599245"/>
          </a:xfrm>
        </p:spPr>
        <p:txBody>
          <a:bodyPr/>
          <a:lstStyle>
            <a:lvl1pPr>
              <a:defRPr sz="4989"/>
            </a:lvl1pPr>
            <a:lvl2pPr>
              <a:defRPr sz="4366"/>
            </a:lvl2pPr>
            <a:lvl3pPr>
              <a:defRPr sz="3742"/>
            </a:lvl3pPr>
            <a:lvl4pPr>
              <a:defRPr sz="3118"/>
            </a:lvl4pPr>
            <a:lvl5pPr>
              <a:defRPr sz="3118"/>
            </a:lvl5pPr>
            <a:lvl6pPr>
              <a:defRPr sz="3118"/>
            </a:lvl6pPr>
            <a:lvl7pPr>
              <a:defRPr sz="3118"/>
            </a:lvl7pPr>
            <a:lvl8pPr>
              <a:defRPr sz="3118"/>
            </a:lvl8pPr>
            <a:lvl9pPr>
              <a:defRPr sz="311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309436" y="3208020"/>
            <a:ext cx="6131320" cy="5943254"/>
          </a:xfrm>
        </p:spPr>
        <p:txBody>
          <a:bodyPr/>
          <a:lstStyle>
            <a:lvl1pPr marL="0" indent="0">
              <a:buNone/>
              <a:defRPr sz="2495"/>
            </a:lvl1pPr>
            <a:lvl2pPr marL="712866" indent="0">
              <a:buNone/>
              <a:defRPr sz="2183"/>
            </a:lvl2pPr>
            <a:lvl3pPr marL="1425732" indent="0">
              <a:buNone/>
              <a:defRPr sz="1871"/>
            </a:lvl3pPr>
            <a:lvl4pPr marL="2138599" indent="0">
              <a:buNone/>
              <a:defRPr sz="1559"/>
            </a:lvl4pPr>
            <a:lvl5pPr marL="2851465" indent="0">
              <a:buNone/>
              <a:defRPr sz="1559"/>
            </a:lvl5pPr>
            <a:lvl6pPr marL="3564331" indent="0">
              <a:buNone/>
              <a:defRPr sz="1559"/>
            </a:lvl6pPr>
            <a:lvl7pPr marL="4277197" indent="0">
              <a:buNone/>
              <a:defRPr sz="1559"/>
            </a:lvl7pPr>
            <a:lvl8pPr marL="4990064" indent="0">
              <a:buNone/>
              <a:defRPr sz="1559"/>
            </a:lvl8pPr>
            <a:lvl9pPr marL="5702930" indent="0">
              <a:buNone/>
              <a:defRPr sz="1559"/>
            </a:lvl9pPr>
          </a:lstStyle>
          <a:p>
            <a:pPr lvl="0"/>
            <a:r>
              <a:rPr lang="en-US"/>
              <a:t>Click to edit Master text styles</a:t>
            </a:r>
          </a:p>
        </p:txBody>
      </p:sp>
      <p:sp>
        <p:nvSpPr>
          <p:cNvPr id="5" name="Date Placeholder 4"/>
          <p:cNvSpPr>
            <a:spLocks noGrp="1"/>
          </p:cNvSpPr>
          <p:nvPr>
            <p:ph type="dt" sz="half" idx="10"/>
          </p:nvPr>
        </p:nvSpPr>
        <p:spPr/>
        <p:txBody>
          <a:bodyPr/>
          <a:lstStyle/>
          <a:p>
            <a:fld id="{75E4D974-A6C3-4608-BEA3-ED27735A8E27}" type="datetime1">
              <a:rPr lang="en-US" smtClean="0"/>
              <a:t>12/30/2025</a:t>
            </a:fld>
            <a:endParaRPr lang="en-US" dirty="0"/>
          </a:p>
        </p:txBody>
      </p:sp>
      <p:sp>
        <p:nvSpPr>
          <p:cNvPr id="6" name="Footer Placeholder 5"/>
          <p:cNvSpPr>
            <a:spLocks noGrp="1"/>
          </p:cNvSpPr>
          <p:nvPr>
            <p:ph type="ftr" sz="quarter" idx="11"/>
          </p:nvPr>
        </p:nvSpPr>
        <p:spPr/>
        <p:txBody>
          <a:bodyPr/>
          <a:lstStyle/>
          <a:p>
            <a:r>
              <a:rPr lang="en-US"/>
              <a:t>NARS Exploring Research in Nursing </a:t>
            </a:r>
            <a:endParaRPr lang="cs-CZ"/>
          </a:p>
        </p:txBody>
      </p:sp>
      <p:sp>
        <p:nvSpPr>
          <p:cNvPr id="7" name="Slide Number Placeholder 6"/>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24400464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09436" y="712893"/>
            <a:ext cx="6131320" cy="2495127"/>
          </a:xfrm>
        </p:spPr>
        <p:txBody>
          <a:bodyPr anchor="b"/>
          <a:lstStyle>
            <a:lvl1pPr>
              <a:defRPr sz="4989"/>
            </a:lvl1pPr>
          </a:lstStyle>
          <a:p>
            <a:r>
              <a:rPr lang="en-US"/>
              <a:t>Click to edit Master title style</a:t>
            </a:r>
            <a:endParaRPr lang="en-US" dirty="0"/>
          </a:p>
        </p:txBody>
      </p:sp>
      <p:sp>
        <p:nvSpPr>
          <p:cNvPr id="3" name="Picture Placeholder 2"/>
          <p:cNvSpPr>
            <a:spLocks noGrp="1" noChangeAspect="1"/>
          </p:cNvSpPr>
          <p:nvPr>
            <p:ph type="pic" idx="1"/>
          </p:nvPr>
        </p:nvSpPr>
        <p:spPr>
          <a:xfrm>
            <a:off x="8081859" y="1539652"/>
            <a:ext cx="9623971" cy="7599245"/>
          </a:xfrm>
        </p:spPr>
        <p:txBody>
          <a:bodyPr anchor="t"/>
          <a:lstStyle>
            <a:lvl1pPr marL="0" indent="0">
              <a:buNone/>
              <a:defRPr sz="4989"/>
            </a:lvl1pPr>
            <a:lvl2pPr marL="712866" indent="0">
              <a:buNone/>
              <a:defRPr sz="4366"/>
            </a:lvl2pPr>
            <a:lvl3pPr marL="1425732" indent="0">
              <a:buNone/>
              <a:defRPr sz="3742"/>
            </a:lvl3pPr>
            <a:lvl4pPr marL="2138599" indent="0">
              <a:buNone/>
              <a:defRPr sz="3118"/>
            </a:lvl4pPr>
            <a:lvl5pPr marL="2851465" indent="0">
              <a:buNone/>
              <a:defRPr sz="3118"/>
            </a:lvl5pPr>
            <a:lvl6pPr marL="3564331" indent="0">
              <a:buNone/>
              <a:defRPr sz="3118"/>
            </a:lvl6pPr>
            <a:lvl7pPr marL="4277197" indent="0">
              <a:buNone/>
              <a:defRPr sz="3118"/>
            </a:lvl7pPr>
            <a:lvl8pPr marL="4990064" indent="0">
              <a:buNone/>
              <a:defRPr sz="3118"/>
            </a:lvl8pPr>
            <a:lvl9pPr marL="5702930" indent="0">
              <a:buNone/>
              <a:defRPr sz="3118"/>
            </a:lvl9pPr>
          </a:lstStyle>
          <a:p>
            <a:r>
              <a:rPr lang="en-US"/>
              <a:t>Click icon to add picture</a:t>
            </a:r>
            <a:endParaRPr lang="en-US" dirty="0"/>
          </a:p>
        </p:txBody>
      </p:sp>
      <p:sp>
        <p:nvSpPr>
          <p:cNvPr id="4" name="Text Placeholder 3"/>
          <p:cNvSpPr>
            <a:spLocks noGrp="1"/>
          </p:cNvSpPr>
          <p:nvPr>
            <p:ph type="body" sz="half" idx="2"/>
          </p:nvPr>
        </p:nvSpPr>
        <p:spPr>
          <a:xfrm>
            <a:off x="1309436" y="3208020"/>
            <a:ext cx="6131320" cy="5943254"/>
          </a:xfrm>
        </p:spPr>
        <p:txBody>
          <a:bodyPr/>
          <a:lstStyle>
            <a:lvl1pPr marL="0" indent="0">
              <a:buNone/>
              <a:defRPr sz="2495"/>
            </a:lvl1pPr>
            <a:lvl2pPr marL="712866" indent="0">
              <a:buNone/>
              <a:defRPr sz="2183"/>
            </a:lvl2pPr>
            <a:lvl3pPr marL="1425732" indent="0">
              <a:buNone/>
              <a:defRPr sz="1871"/>
            </a:lvl3pPr>
            <a:lvl4pPr marL="2138599" indent="0">
              <a:buNone/>
              <a:defRPr sz="1559"/>
            </a:lvl4pPr>
            <a:lvl5pPr marL="2851465" indent="0">
              <a:buNone/>
              <a:defRPr sz="1559"/>
            </a:lvl5pPr>
            <a:lvl6pPr marL="3564331" indent="0">
              <a:buNone/>
              <a:defRPr sz="1559"/>
            </a:lvl6pPr>
            <a:lvl7pPr marL="4277197" indent="0">
              <a:buNone/>
              <a:defRPr sz="1559"/>
            </a:lvl7pPr>
            <a:lvl8pPr marL="4990064" indent="0">
              <a:buNone/>
              <a:defRPr sz="1559"/>
            </a:lvl8pPr>
            <a:lvl9pPr marL="5702930" indent="0">
              <a:buNone/>
              <a:defRPr sz="1559"/>
            </a:lvl9pPr>
          </a:lstStyle>
          <a:p>
            <a:pPr lvl="0"/>
            <a:r>
              <a:rPr lang="en-US"/>
              <a:t>Click to edit Master text styles</a:t>
            </a:r>
          </a:p>
        </p:txBody>
      </p:sp>
      <p:sp>
        <p:nvSpPr>
          <p:cNvPr id="5" name="Date Placeholder 4"/>
          <p:cNvSpPr>
            <a:spLocks noGrp="1"/>
          </p:cNvSpPr>
          <p:nvPr>
            <p:ph type="dt" sz="half" idx="10"/>
          </p:nvPr>
        </p:nvSpPr>
        <p:spPr/>
        <p:txBody>
          <a:bodyPr/>
          <a:lstStyle/>
          <a:p>
            <a:fld id="{363CD247-00D8-401B-BE43-47B76EB52937}" type="datetime1">
              <a:rPr lang="en-US" smtClean="0"/>
              <a:t>12/30/2025</a:t>
            </a:fld>
            <a:endParaRPr lang="en-US" dirty="0"/>
          </a:p>
        </p:txBody>
      </p:sp>
      <p:sp>
        <p:nvSpPr>
          <p:cNvPr id="6" name="Footer Placeholder 5"/>
          <p:cNvSpPr>
            <a:spLocks noGrp="1"/>
          </p:cNvSpPr>
          <p:nvPr>
            <p:ph type="ftr" sz="quarter" idx="11"/>
          </p:nvPr>
        </p:nvSpPr>
        <p:spPr/>
        <p:txBody>
          <a:bodyPr/>
          <a:lstStyle/>
          <a:p>
            <a:r>
              <a:rPr lang="en-US"/>
              <a:t>NARS Exploring Research in Nursing </a:t>
            </a:r>
            <a:endParaRPr lang="cs-CZ"/>
          </a:p>
        </p:txBody>
      </p:sp>
      <p:sp>
        <p:nvSpPr>
          <p:cNvPr id="7" name="Slide Number Placeholder 6"/>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3789242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23AF53C-DEBA-441C-88C0-DB0FEA262832}" type="datetime1">
              <a:rPr lang="en-US" smtClean="0"/>
              <a:t>12/30/2025</a:t>
            </a:fld>
            <a:endParaRPr lang="en-US" dirty="0"/>
          </a:p>
        </p:txBody>
      </p:sp>
      <p:sp>
        <p:nvSpPr>
          <p:cNvPr id="5" name="Footer Placeholder 4"/>
          <p:cNvSpPr>
            <a:spLocks noGrp="1"/>
          </p:cNvSpPr>
          <p:nvPr>
            <p:ph type="ftr" sz="quarter" idx="11"/>
          </p:nvPr>
        </p:nvSpPr>
        <p:spPr/>
        <p:txBody>
          <a:bodyPr/>
          <a:lstStyle/>
          <a:p>
            <a:r>
              <a:rPr lang="en-US"/>
              <a:t>NARS Exploring Research in Nursing </a:t>
            </a:r>
            <a:endParaRPr lang="cs-CZ"/>
          </a:p>
        </p:txBody>
      </p:sp>
      <p:sp>
        <p:nvSpPr>
          <p:cNvPr id="6" name="Slide Number Placeholder 5"/>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2308309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604255" y="569325"/>
            <a:ext cx="4099099" cy="90621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06959" y="569325"/>
            <a:ext cx="12059667" cy="90621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36C248-4645-48AB-BC7E-43CBA280EFF2}" type="datetime1">
              <a:rPr lang="en-US" smtClean="0"/>
              <a:t>12/30/2025</a:t>
            </a:fld>
            <a:endParaRPr lang="en-US" dirty="0"/>
          </a:p>
        </p:txBody>
      </p:sp>
      <p:sp>
        <p:nvSpPr>
          <p:cNvPr id="5" name="Footer Placeholder 4"/>
          <p:cNvSpPr>
            <a:spLocks noGrp="1"/>
          </p:cNvSpPr>
          <p:nvPr>
            <p:ph type="ftr" sz="quarter" idx="11"/>
          </p:nvPr>
        </p:nvSpPr>
        <p:spPr/>
        <p:txBody>
          <a:bodyPr/>
          <a:lstStyle/>
          <a:p>
            <a:r>
              <a:rPr lang="en-US"/>
              <a:t>NARS Exploring Research in Nursing </a:t>
            </a:r>
            <a:endParaRPr lang="cs-CZ"/>
          </a:p>
        </p:txBody>
      </p:sp>
      <p:sp>
        <p:nvSpPr>
          <p:cNvPr id="6" name="Slide Number Placeholder 5"/>
          <p:cNvSpPr>
            <a:spLocks noGrp="1"/>
          </p:cNvSpPr>
          <p:nvPr>
            <p:ph type="sldNum" sz="quarter" idx="12"/>
          </p:nvPr>
        </p:nvSpPr>
        <p:spPr/>
        <p:txBody>
          <a:bodyPr/>
          <a:lstStyle/>
          <a:p>
            <a:fld id="{B6F15528-21DE-4FAA-801E-634DDDAF4B2B}" type="slidenum">
              <a:rPr lang="cs-CZ" smtClean="0"/>
              <a:t>‹#›</a:t>
            </a:fld>
            <a:endParaRPr lang="cs-CZ"/>
          </a:p>
        </p:txBody>
      </p:sp>
    </p:spTree>
    <p:extLst>
      <p:ext uri="{BB962C8B-B14F-4D97-AF65-F5344CB8AC3E}">
        <p14:creationId xmlns:p14="http://schemas.microsoft.com/office/powerpoint/2010/main" val="2528634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06959" y="569326"/>
            <a:ext cx="16396395" cy="206689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306959" y="2846623"/>
            <a:ext cx="16396395" cy="678486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06959" y="9911198"/>
            <a:ext cx="4277320" cy="569325"/>
          </a:xfrm>
          <a:prstGeom prst="rect">
            <a:avLst/>
          </a:prstGeom>
        </p:spPr>
        <p:txBody>
          <a:bodyPr vert="horz" lIns="91440" tIns="45720" rIns="91440" bIns="45720" rtlCol="0" anchor="ctr"/>
          <a:lstStyle>
            <a:lvl1pPr algn="l">
              <a:defRPr sz="1871">
                <a:solidFill>
                  <a:schemeClr val="tx1">
                    <a:tint val="75000"/>
                  </a:schemeClr>
                </a:solidFill>
              </a:defRPr>
            </a:lvl1pPr>
          </a:lstStyle>
          <a:p>
            <a:fld id="{BFA6DB19-9884-4629-AF00-B5FB30AF5014}" type="datetime1">
              <a:rPr lang="en-US" smtClean="0"/>
              <a:t>12/30/2025</a:t>
            </a:fld>
            <a:endParaRPr lang="en-US" dirty="0"/>
          </a:p>
        </p:txBody>
      </p:sp>
      <p:sp>
        <p:nvSpPr>
          <p:cNvPr id="5" name="Footer Placeholder 4"/>
          <p:cNvSpPr>
            <a:spLocks noGrp="1"/>
          </p:cNvSpPr>
          <p:nvPr>
            <p:ph type="ftr" sz="quarter" idx="3"/>
          </p:nvPr>
        </p:nvSpPr>
        <p:spPr>
          <a:xfrm>
            <a:off x="6297166" y="9911198"/>
            <a:ext cx="6415981" cy="569325"/>
          </a:xfrm>
          <a:prstGeom prst="rect">
            <a:avLst/>
          </a:prstGeom>
        </p:spPr>
        <p:txBody>
          <a:bodyPr vert="horz" lIns="91440" tIns="45720" rIns="91440" bIns="45720" rtlCol="0" anchor="ctr"/>
          <a:lstStyle>
            <a:lvl1pPr algn="ctr">
              <a:defRPr sz="1871">
                <a:solidFill>
                  <a:schemeClr val="tx1">
                    <a:tint val="75000"/>
                  </a:schemeClr>
                </a:solidFill>
              </a:defRPr>
            </a:lvl1pPr>
          </a:lstStyle>
          <a:p>
            <a:r>
              <a:rPr lang="en-US"/>
              <a:t>NARS Exploring Research in Nursing </a:t>
            </a:r>
            <a:endParaRPr lang="cs-CZ"/>
          </a:p>
        </p:txBody>
      </p:sp>
      <p:sp>
        <p:nvSpPr>
          <p:cNvPr id="6" name="Slide Number Placeholder 5"/>
          <p:cNvSpPr>
            <a:spLocks noGrp="1"/>
          </p:cNvSpPr>
          <p:nvPr>
            <p:ph type="sldNum" sz="quarter" idx="4"/>
          </p:nvPr>
        </p:nvSpPr>
        <p:spPr>
          <a:xfrm>
            <a:off x="13426034" y="9911198"/>
            <a:ext cx="4277320" cy="569325"/>
          </a:xfrm>
          <a:prstGeom prst="rect">
            <a:avLst/>
          </a:prstGeom>
        </p:spPr>
        <p:txBody>
          <a:bodyPr vert="horz" lIns="91440" tIns="45720" rIns="91440" bIns="45720" rtlCol="0" anchor="ctr"/>
          <a:lstStyle>
            <a:lvl1pPr algn="r">
              <a:defRPr sz="1871">
                <a:solidFill>
                  <a:schemeClr val="tx1">
                    <a:tint val="75000"/>
                  </a:schemeClr>
                </a:solidFill>
              </a:defRPr>
            </a:lvl1pPr>
          </a:lstStyle>
          <a:p>
            <a:fld id="{B6F15528-21DE-4FAA-801E-634DDDAF4B2B}" type="slidenum">
              <a:rPr lang="cs-CZ" smtClean="0"/>
              <a:t>‹#›</a:t>
            </a:fld>
            <a:endParaRPr lang="cs-CZ"/>
          </a:p>
        </p:txBody>
      </p:sp>
    </p:spTree>
    <p:extLst>
      <p:ext uri="{BB962C8B-B14F-4D97-AF65-F5344CB8AC3E}">
        <p14:creationId xmlns:p14="http://schemas.microsoft.com/office/powerpoint/2010/main" val="2711602623"/>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hf hdr="0" dt="0"/>
  <p:txStyles>
    <p:titleStyle>
      <a:lvl1pPr algn="l" defTabSz="1425732" rtl="0" eaLnBrk="1" latinLnBrk="0" hangingPunct="1">
        <a:lnSpc>
          <a:spcPct val="90000"/>
        </a:lnSpc>
        <a:spcBef>
          <a:spcPct val="0"/>
        </a:spcBef>
        <a:buNone/>
        <a:defRPr sz="6860" kern="1200">
          <a:solidFill>
            <a:schemeClr val="tx1"/>
          </a:solidFill>
          <a:latin typeface="+mj-lt"/>
          <a:ea typeface="+mj-ea"/>
          <a:cs typeface="+mj-cs"/>
        </a:defRPr>
      </a:lvl1pPr>
    </p:titleStyle>
    <p:bodyStyle>
      <a:lvl1pPr marL="356433" indent="-356433" algn="l" defTabSz="1425732" rtl="0" eaLnBrk="1" latinLnBrk="0" hangingPunct="1">
        <a:lnSpc>
          <a:spcPct val="90000"/>
        </a:lnSpc>
        <a:spcBef>
          <a:spcPts val="1559"/>
        </a:spcBef>
        <a:buFont typeface="Arial" panose="020B0604020202020204" pitchFamily="34" charset="0"/>
        <a:buChar char="•"/>
        <a:defRPr sz="4366" kern="1200">
          <a:solidFill>
            <a:schemeClr val="tx1"/>
          </a:solidFill>
          <a:latin typeface="+mn-lt"/>
          <a:ea typeface="+mn-ea"/>
          <a:cs typeface="+mn-cs"/>
        </a:defRPr>
      </a:lvl1pPr>
      <a:lvl2pPr marL="1069299" indent="-356433" algn="l" defTabSz="1425732" rtl="0" eaLnBrk="1" latinLnBrk="0" hangingPunct="1">
        <a:lnSpc>
          <a:spcPct val="90000"/>
        </a:lnSpc>
        <a:spcBef>
          <a:spcPts val="780"/>
        </a:spcBef>
        <a:buFont typeface="Arial" panose="020B0604020202020204" pitchFamily="34" charset="0"/>
        <a:buChar char="•"/>
        <a:defRPr sz="3742" kern="1200">
          <a:solidFill>
            <a:schemeClr val="tx1"/>
          </a:solidFill>
          <a:latin typeface="+mn-lt"/>
          <a:ea typeface="+mn-ea"/>
          <a:cs typeface="+mn-cs"/>
        </a:defRPr>
      </a:lvl2pPr>
      <a:lvl3pPr marL="1782166" indent="-356433" algn="l" defTabSz="1425732" rtl="0" eaLnBrk="1" latinLnBrk="0" hangingPunct="1">
        <a:lnSpc>
          <a:spcPct val="90000"/>
        </a:lnSpc>
        <a:spcBef>
          <a:spcPts val="780"/>
        </a:spcBef>
        <a:buFont typeface="Arial" panose="020B0604020202020204" pitchFamily="34" charset="0"/>
        <a:buChar char="•"/>
        <a:defRPr sz="3118" kern="1200">
          <a:solidFill>
            <a:schemeClr val="tx1"/>
          </a:solidFill>
          <a:latin typeface="+mn-lt"/>
          <a:ea typeface="+mn-ea"/>
          <a:cs typeface="+mn-cs"/>
        </a:defRPr>
      </a:lvl3pPr>
      <a:lvl4pPr marL="2495032"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4pPr>
      <a:lvl5pPr marL="3207898"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5pPr>
      <a:lvl6pPr marL="3920764"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6pPr>
      <a:lvl7pPr marL="4633631"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7pPr>
      <a:lvl8pPr marL="5346497"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8pPr>
      <a:lvl9pPr marL="6059363" indent="-356433" algn="l" defTabSz="1425732" rtl="0" eaLnBrk="1" latinLnBrk="0" hangingPunct="1">
        <a:lnSpc>
          <a:spcPct val="90000"/>
        </a:lnSpc>
        <a:spcBef>
          <a:spcPts val="780"/>
        </a:spcBef>
        <a:buFont typeface="Arial" panose="020B0604020202020204" pitchFamily="34" charset="0"/>
        <a:buChar char="•"/>
        <a:defRPr sz="2807" kern="1200">
          <a:solidFill>
            <a:schemeClr val="tx1"/>
          </a:solidFill>
          <a:latin typeface="+mn-lt"/>
          <a:ea typeface="+mn-ea"/>
          <a:cs typeface="+mn-cs"/>
        </a:defRPr>
      </a:lvl9pPr>
    </p:bodyStyle>
    <p:otherStyle>
      <a:defPPr>
        <a:defRPr lang="en-US"/>
      </a:defPPr>
      <a:lvl1pPr marL="0" algn="l" defTabSz="1425732" rtl="0" eaLnBrk="1" latinLnBrk="0" hangingPunct="1">
        <a:defRPr sz="2807" kern="1200">
          <a:solidFill>
            <a:schemeClr val="tx1"/>
          </a:solidFill>
          <a:latin typeface="+mn-lt"/>
          <a:ea typeface="+mn-ea"/>
          <a:cs typeface="+mn-cs"/>
        </a:defRPr>
      </a:lvl1pPr>
      <a:lvl2pPr marL="712866" algn="l" defTabSz="1425732" rtl="0" eaLnBrk="1" latinLnBrk="0" hangingPunct="1">
        <a:defRPr sz="2807" kern="1200">
          <a:solidFill>
            <a:schemeClr val="tx1"/>
          </a:solidFill>
          <a:latin typeface="+mn-lt"/>
          <a:ea typeface="+mn-ea"/>
          <a:cs typeface="+mn-cs"/>
        </a:defRPr>
      </a:lvl2pPr>
      <a:lvl3pPr marL="1425732" algn="l" defTabSz="1425732" rtl="0" eaLnBrk="1" latinLnBrk="0" hangingPunct="1">
        <a:defRPr sz="2807" kern="1200">
          <a:solidFill>
            <a:schemeClr val="tx1"/>
          </a:solidFill>
          <a:latin typeface="+mn-lt"/>
          <a:ea typeface="+mn-ea"/>
          <a:cs typeface="+mn-cs"/>
        </a:defRPr>
      </a:lvl3pPr>
      <a:lvl4pPr marL="2138599" algn="l" defTabSz="1425732" rtl="0" eaLnBrk="1" latinLnBrk="0" hangingPunct="1">
        <a:defRPr sz="2807" kern="1200">
          <a:solidFill>
            <a:schemeClr val="tx1"/>
          </a:solidFill>
          <a:latin typeface="+mn-lt"/>
          <a:ea typeface="+mn-ea"/>
          <a:cs typeface="+mn-cs"/>
        </a:defRPr>
      </a:lvl4pPr>
      <a:lvl5pPr marL="2851465" algn="l" defTabSz="1425732" rtl="0" eaLnBrk="1" latinLnBrk="0" hangingPunct="1">
        <a:defRPr sz="2807" kern="1200">
          <a:solidFill>
            <a:schemeClr val="tx1"/>
          </a:solidFill>
          <a:latin typeface="+mn-lt"/>
          <a:ea typeface="+mn-ea"/>
          <a:cs typeface="+mn-cs"/>
        </a:defRPr>
      </a:lvl5pPr>
      <a:lvl6pPr marL="3564331" algn="l" defTabSz="1425732" rtl="0" eaLnBrk="1" latinLnBrk="0" hangingPunct="1">
        <a:defRPr sz="2807" kern="1200">
          <a:solidFill>
            <a:schemeClr val="tx1"/>
          </a:solidFill>
          <a:latin typeface="+mn-lt"/>
          <a:ea typeface="+mn-ea"/>
          <a:cs typeface="+mn-cs"/>
        </a:defRPr>
      </a:lvl6pPr>
      <a:lvl7pPr marL="4277197" algn="l" defTabSz="1425732" rtl="0" eaLnBrk="1" latinLnBrk="0" hangingPunct="1">
        <a:defRPr sz="2807" kern="1200">
          <a:solidFill>
            <a:schemeClr val="tx1"/>
          </a:solidFill>
          <a:latin typeface="+mn-lt"/>
          <a:ea typeface="+mn-ea"/>
          <a:cs typeface="+mn-cs"/>
        </a:defRPr>
      </a:lvl7pPr>
      <a:lvl8pPr marL="4990064" algn="l" defTabSz="1425732" rtl="0" eaLnBrk="1" latinLnBrk="0" hangingPunct="1">
        <a:defRPr sz="2807" kern="1200">
          <a:solidFill>
            <a:schemeClr val="tx1"/>
          </a:solidFill>
          <a:latin typeface="+mn-lt"/>
          <a:ea typeface="+mn-ea"/>
          <a:cs typeface="+mn-cs"/>
        </a:defRPr>
      </a:lvl8pPr>
      <a:lvl9pPr marL="5702930" algn="l" defTabSz="1425732" rtl="0" eaLnBrk="1" latinLnBrk="0" hangingPunct="1">
        <a:defRPr sz="280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20F95502-65C6-482A-9B40-DDCB8DAA9D75}"/>
              </a:ext>
            </a:extLst>
          </p:cNvPr>
          <p:cNvGrpSpPr/>
          <p:nvPr/>
        </p:nvGrpSpPr>
        <p:grpSpPr>
          <a:xfrm>
            <a:off x="0" y="0"/>
            <a:ext cx="19010313" cy="1112119"/>
            <a:chOff x="-324644" y="2222500"/>
            <a:chExt cx="22261685" cy="1302327"/>
          </a:xfrm>
        </p:grpSpPr>
        <p:sp>
          <p:nvSpPr>
            <p:cNvPr id="2" name="object 2"/>
            <p:cNvSpPr/>
            <p:nvPr/>
          </p:nvSpPr>
          <p:spPr>
            <a:xfrm>
              <a:off x="-324644"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009EF3"/>
            </a:solidFill>
          </p:spPr>
          <p:txBody>
            <a:bodyPr wrap="square" lIns="0" tIns="0" rIns="0" bIns="0" rtlCol="0"/>
            <a:lstStyle/>
            <a:p>
              <a:endParaRPr lang="en-US"/>
            </a:p>
          </p:txBody>
        </p:sp>
        <p:sp>
          <p:nvSpPr>
            <p:cNvPr id="3" name="object 3"/>
            <p:cNvSpPr/>
            <p:nvPr/>
          </p:nvSpPr>
          <p:spPr>
            <a:xfrm>
              <a:off x="16363156" y="2222500"/>
              <a:ext cx="5573885" cy="1302327"/>
            </a:xfrm>
            <a:custGeom>
              <a:avLst/>
              <a:gdLst/>
              <a:ahLst/>
              <a:cxnLst/>
              <a:rect l="l" t="t" r="r" b="b"/>
              <a:pathLst>
                <a:path w="1883409" h="440055">
                  <a:moveTo>
                    <a:pt x="0" y="0"/>
                  </a:moveTo>
                  <a:lnTo>
                    <a:pt x="0" y="439737"/>
                  </a:lnTo>
                  <a:lnTo>
                    <a:pt x="1883155" y="439737"/>
                  </a:lnTo>
                  <a:lnTo>
                    <a:pt x="1883155" y="0"/>
                  </a:lnTo>
                  <a:lnTo>
                    <a:pt x="0" y="0"/>
                  </a:lnTo>
                  <a:close/>
                </a:path>
              </a:pathLst>
            </a:custGeom>
            <a:solidFill>
              <a:srgbClr val="FF8200"/>
            </a:solidFill>
          </p:spPr>
          <p:txBody>
            <a:bodyPr wrap="square" lIns="0" tIns="0" rIns="0" bIns="0" rtlCol="0"/>
            <a:lstStyle/>
            <a:p>
              <a:endParaRPr lang="en-US"/>
            </a:p>
          </p:txBody>
        </p:sp>
        <p:sp>
          <p:nvSpPr>
            <p:cNvPr id="22" name="object 2">
              <a:extLst>
                <a:ext uri="{FF2B5EF4-FFF2-40B4-BE49-F238E27FC236}">
                  <a16:creationId xmlns:a16="http://schemas.microsoft.com/office/drawing/2014/main" id="{3708B453-DDCE-42C1-9AB9-A8D5DDCA46AD}"/>
                </a:ext>
              </a:extLst>
            </p:cNvPr>
            <p:cNvSpPr/>
            <p:nvPr/>
          </p:nvSpPr>
          <p:spPr>
            <a:xfrm>
              <a:off x="52379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BF00"/>
            </a:solidFill>
          </p:spPr>
          <p:txBody>
            <a:bodyPr wrap="square" lIns="0" tIns="0" rIns="0" bIns="0" rtlCol="0"/>
            <a:lstStyle/>
            <a:p>
              <a:endParaRPr lang="en-US"/>
            </a:p>
          </p:txBody>
        </p:sp>
        <p:sp>
          <p:nvSpPr>
            <p:cNvPr id="23" name="object 2">
              <a:extLst>
                <a:ext uri="{FF2B5EF4-FFF2-40B4-BE49-F238E27FC236}">
                  <a16:creationId xmlns:a16="http://schemas.microsoft.com/office/drawing/2014/main" id="{7D360C87-DA57-4F00-96B5-35199AD11657}"/>
                </a:ext>
              </a:extLst>
            </p:cNvPr>
            <p:cNvSpPr/>
            <p:nvPr/>
          </p:nvSpPr>
          <p:spPr>
            <a:xfrm>
              <a:off x="108005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A100"/>
            </a:solidFill>
          </p:spPr>
          <p:txBody>
            <a:bodyPr wrap="square" lIns="0" tIns="0" rIns="0" bIns="0" rtlCol="0"/>
            <a:lstStyle/>
            <a:p>
              <a:endParaRPr lang="en-US"/>
            </a:p>
          </p:txBody>
        </p:sp>
      </p:grpSp>
      <p:sp>
        <p:nvSpPr>
          <p:cNvPr id="18" name="object 18"/>
          <p:cNvSpPr txBox="1"/>
          <p:nvPr/>
        </p:nvSpPr>
        <p:spPr>
          <a:xfrm>
            <a:off x="360140" y="4074165"/>
            <a:ext cx="18362040" cy="2526589"/>
          </a:xfrm>
          <a:prstGeom prst="rect">
            <a:avLst/>
          </a:prstGeom>
        </p:spPr>
        <p:txBody>
          <a:bodyPr vert="horz" wrap="square" lIns="0" tIns="12700" rIns="0" bIns="0" rtlCol="0">
            <a:spAutoFit/>
          </a:bodyPr>
          <a:lstStyle/>
          <a:p>
            <a:pPr marL="12700" marR="5080" indent="360680" algn="ctr">
              <a:lnSpc>
                <a:spcPct val="102400"/>
              </a:lnSpc>
            </a:pPr>
            <a:r>
              <a:rPr lang="en-US" sz="5400" dirty="0">
                <a:cs typeface="Source Sans Pro"/>
              </a:rPr>
              <a:t>EXPLORING THE MAJOR BARRIERS AND FACILITATORS OF HEALTHCARE INFORMATICS ADOPTION IN HEALTHCARE DELIVERY BY NURSES AND PHYSICIANS</a:t>
            </a:r>
          </a:p>
        </p:txBody>
      </p:sp>
      <p:sp>
        <p:nvSpPr>
          <p:cNvPr id="19" name="object 19"/>
          <p:cNvSpPr/>
          <p:nvPr/>
        </p:nvSpPr>
        <p:spPr>
          <a:xfrm flipV="1">
            <a:off x="3600500" y="4900981"/>
            <a:ext cx="9601200" cy="274319"/>
          </a:xfrm>
          <a:custGeom>
            <a:avLst/>
            <a:gdLst/>
            <a:ahLst/>
            <a:cxnLst/>
            <a:rect l="l" t="t" r="r" b="b"/>
            <a:pathLst>
              <a:path w="4686300">
                <a:moveTo>
                  <a:pt x="0" y="0"/>
                </a:moveTo>
                <a:lnTo>
                  <a:pt x="4686300" y="0"/>
                </a:lnTo>
              </a:path>
            </a:pathLst>
          </a:custGeom>
          <a:ln w="8466">
            <a:solidFill>
              <a:srgbClr val="002E8E"/>
            </a:solidFill>
          </a:ln>
        </p:spPr>
        <p:txBody>
          <a:bodyPr wrap="square" lIns="0" tIns="0" rIns="0" bIns="0" rtlCol="0"/>
          <a:lstStyle/>
          <a:p>
            <a:pPr algn="ctr"/>
            <a:endParaRPr lang="en-US"/>
          </a:p>
        </p:txBody>
      </p:sp>
      <p:sp>
        <p:nvSpPr>
          <p:cNvPr id="20" name="object 20"/>
          <p:cNvSpPr txBox="1"/>
          <p:nvPr/>
        </p:nvSpPr>
        <p:spPr>
          <a:xfrm>
            <a:off x="4839107" y="6977030"/>
            <a:ext cx="7888372" cy="1946687"/>
          </a:xfrm>
          <a:prstGeom prst="rect">
            <a:avLst/>
          </a:prstGeom>
        </p:spPr>
        <p:txBody>
          <a:bodyPr vert="horz" wrap="square" lIns="0" tIns="12700" rIns="0" bIns="0" rtlCol="0">
            <a:spAutoFit/>
          </a:bodyPr>
          <a:lstStyle/>
          <a:p>
            <a:pPr marL="12700" algn="ctr">
              <a:lnSpc>
                <a:spcPct val="100000"/>
              </a:lnSpc>
              <a:spcBef>
                <a:spcPts val="100"/>
              </a:spcBef>
            </a:pPr>
            <a:endParaRPr lang="en-US" sz="4800" spc="-5" dirty="0">
              <a:cs typeface="Source Sans Pro Light"/>
            </a:endParaRPr>
          </a:p>
          <a:p>
            <a:pPr marL="12700" algn="ctr">
              <a:lnSpc>
                <a:spcPct val="100000"/>
              </a:lnSpc>
              <a:spcBef>
                <a:spcPts val="100"/>
              </a:spcBef>
            </a:pPr>
            <a:r>
              <a:rPr lang="en-US" sz="4800" spc="-5" dirty="0">
                <a:cs typeface="Source Sans Pro Light"/>
              </a:rPr>
              <a:t>ESTHER EMALO ODU</a:t>
            </a:r>
          </a:p>
          <a:p>
            <a:pPr marL="12700" algn="ctr">
              <a:lnSpc>
                <a:spcPct val="100000"/>
              </a:lnSpc>
              <a:spcBef>
                <a:spcPts val="100"/>
              </a:spcBef>
            </a:pPr>
            <a:r>
              <a:rPr lang="en-US" sz="2800" spc="-5">
                <a:cs typeface="Source Sans Pro Light"/>
              </a:rPr>
              <a:t>19 </a:t>
            </a:r>
            <a:r>
              <a:rPr lang="en-US" sz="2800" spc="-5" dirty="0">
                <a:cs typeface="Source Sans Pro Light"/>
              </a:rPr>
              <a:t>December 2025</a:t>
            </a:r>
          </a:p>
        </p:txBody>
      </p:sp>
      <p:sp>
        <p:nvSpPr>
          <p:cNvPr id="10" name="Rectangle 1">
            <a:extLst>
              <a:ext uri="{FF2B5EF4-FFF2-40B4-BE49-F238E27FC236}">
                <a16:creationId xmlns:a16="http://schemas.microsoft.com/office/drawing/2014/main" id="{0D2C268D-9E0F-042C-4B2A-AEE1FBF253E3}"/>
              </a:ext>
            </a:extLst>
          </p:cNvPr>
          <p:cNvSpPr>
            <a:spLocks noChangeArrowheads="1"/>
          </p:cNvSpPr>
          <p:nvPr/>
        </p:nvSpPr>
        <p:spPr bwMode="auto">
          <a:xfrm>
            <a:off x="0" y="0"/>
            <a:ext cx="190103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SC"/>
          </a:p>
        </p:txBody>
      </p:sp>
      <p:pic>
        <p:nvPicPr>
          <p:cNvPr id="12" name="Picture 11" descr="A yellow and blue logo&#10;&#10;AI-generated content may be incorrect.">
            <a:extLst>
              <a:ext uri="{FF2B5EF4-FFF2-40B4-BE49-F238E27FC236}">
                <a16:creationId xmlns:a16="http://schemas.microsoft.com/office/drawing/2014/main" id="{924BFF0B-E6D5-3019-9FCF-0AD86B1EE8AA}"/>
              </a:ext>
            </a:extLst>
          </p:cNvPr>
          <p:cNvPicPr>
            <a:picLocks noChangeAspect="1"/>
          </p:cNvPicPr>
          <p:nvPr/>
        </p:nvPicPr>
        <p:blipFill>
          <a:blip r:embed="rId3" cstate="print">
            <a:extLst>
              <a:ext uri="{28A0092B-C50C-407E-A947-70E740481C1C}">
                <a14:useLocalDpi xmlns:a14="http://schemas.microsoft.com/office/drawing/2010/main" val="0"/>
              </a:ext>
            </a:extLst>
          </a:blip>
          <a:srcRect l="20475" t="30884" r="16564" b="29612"/>
          <a:stretch>
            <a:fillRect/>
          </a:stretch>
        </p:blipFill>
        <p:spPr>
          <a:xfrm>
            <a:off x="15769852" y="1112119"/>
            <a:ext cx="3096344" cy="2576341"/>
          </a:xfrm>
          <a:prstGeom prst="rect">
            <a:avLst/>
          </a:prstGeom>
        </p:spPr>
      </p:pic>
      <p:sp>
        <p:nvSpPr>
          <p:cNvPr id="15" name="Footer Placeholder 14">
            <a:extLst>
              <a:ext uri="{FF2B5EF4-FFF2-40B4-BE49-F238E27FC236}">
                <a16:creationId xmlns:a16="http://schemas.microsoft.com/office/drawing/2014/main" id="{04F6B7BD-2670-A3F2-1A4F-9F3AB2F15D06}"/>
              </a:ext>
            </a:extLst>
          </p:cNvPr>
          <p:cNvSpPr>
            <a:spLocks noGrp="1"/>
          </p:cNvSpPr>
          <p:nvPr>
            <p:ph type="ftr" sz="quarter" idx="11"/>
          </p:nvPr>
        </p:nvSpPr>
        <p:spPr/>
        <p:txBody>
          <a:bodyPr/>
          <a:lstStyle/>
          <a:p>
            <a:r>
              <a:rPr lang="en-US" dirty="0"/>
              <a:t>NARS Exploring Research in Nursing </a:t>
            </a:r>
            <a:endParaRPr lang="cs-CZ" dirty="0"/>
          </a:p>
        </p:txBody>
      </p:sp>
      <p:sp>
        <p:nvSpPr>
          <p:cNvPr id="16" name="Slide Number Placeholder 15">
            <a:extLst>
              <a:ext uri="{FF2B5EF4-FFF2-40B4-BE49-F238E27FC236}">
                <a16:creationId xmlns:a16="http://schemas.microsoft.com/office/drawing/2014/main" id="{4FF3284A-E6C7-3505-A772-5F1E3D16AEA1}"/>
              </a:ext>
            </a:extLst>
          </p:cNvPr>
          <p:cNvSpPr>
            <a:spLocks noGrp="1"/>
          </p:cNvSpPr>
          <p:nvPr>
            <p:ph type="sldNum" sz="quarter" idx="12"/>
          </p:nvPr>
        </p:nvSpPr>
        <p:spPr/>
        <p:txBody>
          <a:bodyPr/>
          <a:lstStyle/>
          <a:p>
            <a:fld id="{B6F15528-21DE-4FAA-801E-634DDDAF4B2B}" type="slidenum">
              <a:rPr lang="cs-CZ" smtClean="0"/>
              <a:t>1</a:t>
            </a:fld>
            <a:endParaRPr lang="cs-CZ"/>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object 14">
            <a:extLst>
              <a:ext uri="{FF2B5EF4-FFF2-40B4-BE49-F238E27FC236}">
                <a16:creationId xmlns:a16="http://schemas.microsoft.com/office/drawing/2014/main" id="{655226AB-04E9-4FC5-9C22-E447B4D03FE2}"/>
              </a:ext>
            </a:extLst>
          </p:cNvPr>
          <p:cNvSpPr txBox="1"/>
          <p:nvPr/>
        </p:nvSpPr>
        <p:spPr>
          <a:xfrm>
            <a:off x="295094" y="1928068"/>
            <a:ext cx="17785976" cy="11339002"/>
          </a:xfrm>
          <a:prstGeom prst="rect">
            <a:avLst/>
          </a:prstGeom>
        </p:spPr>
        <p:txBody>
          <a:bodyPr vert="horz" wrap="square" lIns="0" tIns="12700" rIns="0" bIns="0" rtlCol="0">
            <a:spAutoFit/>
          </a:bodyPr>
          <a:lstStyle/>
          <a:p>
            <a:pPr lvl="0"/>
            <a:r>
              <a:rPr lang="en-US" sz="4000" b="1" u="sng" dirty="0"/>
              <a:t>HEALTHCARE INFORMATICS</a:t>
            </a:r>
          </a:p>
          <a:p>
            <a:r>
              <a:rPr lang="en-US" sz="3600" dirty="0"/>
              <a:t>Global integration of informatics in diverse healthcare environments is consistently increasing, as organizations perpetually provide care that incorporates  knowledge and skills typically linked to technology (Salameh </a:t>
            </a:r>
            <a:r>
              <a:rPr lang="en-US" sz="3600" i="1" dirty="0"/>
              <a:t>et al</a:t>
            </a:r>
            <a:r>
              <a:rPr lang="en-US" sz="3600" dirty="0"/>
              <a:t>., 2019; Haleem </a:t>
            </a:r>
            <a:r>
              <a:rPr lang="en-US" sz="3600" i="1" dirty="0"/>
              <a:t>et al.</a:t>
            </a:r>
            <a:r>
              <a:rPr lang="en-US" sz="3600" dirty="0"/>
              <a:t>, 2021)</a:t>
            </a:r>
          </a:p>
          <a:p>
            <a:pPr lvl="0"/>
            <a:endParaRPr lang="en-US" sz="3600" b="1" u="sng" dirty="0"/>
          </a:p>
          <a:p>
            <a:pPr lvl="0"/>
            <a:r>
              <a:rPr lang="en-US" sz="3600" dirty="0"/>
              <a:t>Healthcare information systems (HIS, Informatics) encompass electronic health records, clinical decision support systems, and telehealth technology to support patient care. </a:t>
            </a:r>
          </a:p>
          <a:p>
            <a:pPr lvl="0"/>
            <a:endParaRPr lang="en-US" sz="3600" dirty="0"/>
          </a:p>
          <a:p>
            <a:pPr lvl="0"/>
            <a:r>
              <a:rPr lang="en-US" sz="3600" dirty="0"/>
              <a:t>The dynamics and technology-driven healthcare landscape necessitate that healthcare professionals employ informatics to provide safe, effective, and high-quality care(WHO, 2019)</a:t>
            </a:r>
          </a:p>
          <a:p>
            <a:pPr lvl="0"/>
            <a:endParaRPr lang="en-US" sz="3600" dirty="0"/>
          </a:p>
          <a:p>
            <a:pPr lvl="0"/>
            <a:r>
              <a:rPr lang="en-US" sz="3600" dirty="0"/>
              <a:t>Nevertheless, Health informatics, although frequently linked to enhanced patient care and service delivery, continues to encounter resistance and variability in its adoption and utilization among nurses and doctors (Reid et al., 2021; </a:t>
            </a:r>
            <a:r>
              <a:rPr lang="en-US" sz="3600" dirty="0" err="1"/>
              <a:t>Hovenga</a:t>
            </a:r>
            <a:r>
              <a:rPr lang="en-US" sz="3600" dirty="0"/>
              <a:t>, 2022).</a:t>
            </a:r>
          </a:p>
          <a:p>
            <a:pPr lvl="0"/>
            <a:endParaRPr lang="en-US" sz="3200" dirty="0"/>
          </a:p>
          <a:p>
            <a:pPr lvl="0"/>
            <a:endParaRPr lang="en-US" sz="2800" b="0" i="0" dirty="0">
              <a:solidFill>
                <a:srgbClr val="0A0A0A"/>
              </a:solidFill>
              <a:effectLst/>
              <a:latin typeface="Google Sans"/>
            </a:endParaRPr>
          </a:p>
          <a:p>
            <a:pPr lvl="0"/>
            <a:endParaRPr lang="en-US" sz="2800" dirty="0"/>
          </a:p>
          <a:p>
            <a:pPr lvl="0"/>
            <a:endParaRPr lang="en-US" sz="2800" dirty="0"/>
          </a:p>
          <a:p>
            <a:pPr lvl="0"/>
            <a:r>
              <a:rPr lang="en-US" sz="2800" dirty="0"/>
              <a:t> </a:t>
            </a:r>
          </a:p>
          <a:p>
            <a:pPr lvl="0"/>
            <a:endParaRPr lang="en-US" sz="2800" dirty="0"/>
          </a:p>
          <a:p>
            <a:pPr lvl="0"/>
            <a:endParaRPr lang="en-US" sz="2800" dirty="0"/>
          </a:p>
          <a:p>
            <a:pPr lvl="0"/>
            <a:endParaRPr lang="en-SC" sz="2800" dirty="0"/>
          </a:p>
        </p:txBody>
      </p:sp>
      <p:sp>
        <p:nvSpPr>
          <p:cNvPr id="7" name="Footer Placeholder 6">
            <a:extLst>
              <a:ext uri="{FF2B5EF4-FFF2-40B4-BE49-F238E27FC236}">
                <a16:creationId xmlns:a16="http://schemas.microsoft.com/office/drawing/2014/main" id="{0D4A3D7E-169D-E470-6994-1456C7532D5A}"/>
              </a:ext>
            </a:extLst>
          </p:cNvPr>
          <p:cNvSpPr>
            <a:spLocks noGrp="1"/>
          </p:cNvSpPr>
          <p:nvPr>
            <p:ph type="ftr" sz="quarter" idx="11"/>
          </p:nvPr>
        </p:nvSpPr>
        <p:spPr/>
        <p:txBody>
          <a:bodyPr/>
          <a:lstStyle/>
          <a:p>
            <a:r>
              <a:rPr lang="en-US"/>
              <a:t>NARS Exploring Research in Nursing </a:t>
            </a:r>
            <a:endParaRPr lang="cs-CZ"/>
          </a:p>
        </p:txBody>
      </p:sp>
      <p:sp>
        <p:nvSpPr>
          <p:cNvPr id="8" name="Slide Number Placeholder 7">
            <a:extLst>
              <a:ext uri="{FF2B5EF4-FFF2-40B4-BE49-F238E27FC236}">
                <a16:creationId xmlns:a16="http://schemas.microsoft.com/office/drawing/2014/main" id="{A8D8BB68-CC59-96F5-7E02-35B30AAAFB5C}"/>
              </a:ext>
            </a:extLst>
          </p:cNvPr>
          <p:cNvSpPr>
            <a:spLocks noGrp="1"/>
          </p:cNvSpPr>
          <p:nvPr>
            <p:ph type="sldNum" sz="quarter" idx="12"/>
          </p:nvPr>
        </p:nvSpPr>
        <p:spPr/>
        <p:txBody>
          <a:bodyPr/>
          <a:lstStyle/>
          <a:p>
            <a:fld id="{B6F15528-21DE-4FAA-801E-634DDDAF4B2B}" type="slidenum">
              <a:rPr lang="cs-CZ" smtClean="0"/>
              <a:t>2</a:t>
            </a:fld>
            <a:endParaRPr lang="cs-CZ"/>
          </a:p>
        </p:txBody>
      </p:sp>
      <p:grpSp>
        <p:nvGrpSpPr>
          <p:cNvPr id="9" name="Group 8">
            <a:extLst>
              <a:ext uri="{FF2B5EF4-FFF2-40B4-BE49-F238E27FC236}">
                <a16:creationId xmlns:a16="http://schemas.microsoft.com/office/drawing/2014/main" id="{A2C4EB19-CA04-2A19-69CC-A67D03687F6E}"/>
              </a:ext>
            </a:extLst>
          </p:cNvPr>
          <p:cNvGrpSpPr/>
          <p:nvPr/>
        </p:nvGrpSpPr>
        <p:grpSpPr>
          <a:xfrm>
            <a:off x="0" y="511087"/>
            <a:ext cx="7200900" cy="1251405"/>
            <a:chOff x="564554" y="8642689"/>
            <a:chExt cx="3496471" cy="439424"/>
          </a:xfrm>
        </p:grpSpPr>
        <p:sp>
          <p:nvSpPr>
            <p:cNvPr id="10" name="object 4">
              <a:extLst>
                <a:ext uri="{FF2B5EF4-FFF2-40B4-BE49-F238E27FC236}">
                  <a16:creationId xmlns:a16="http://schemas.microsoft.com/office/drawing/2014/main" id="{69C171D3-1CF0-5410-9F75-ACD5859B4E20}"/>
                </a:ext>
              </a:extLst>
            </p:cNvPr>
            <p:cNvSpPr/>
            <p:nvPr/>
          </p:nvSpPr>
          <p:spPr>
            <a:xfrm>
              <a:off x="564554" y="8642693"/>
              <a:ext cx="3280372" cy="43942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p:spPr>
          <p:txBody>
            <a:bodyPr wrap="square" lIns="0" tIns="0" rIns="0" bIns="0" rtlCol="0"/>
            <a:lstStyle/>
            <a:p>
              <a:endParaRPr lang="en-US"/>
            </a:p>
          </p:txBody>
        </p:sp>
        <p:sp>
          <p:nvSpPr>
            <p:cNvPr id="11" name="object 5">
              <a:extLst>
                <a:ext uri="{FF2B5EF4-FFF2-40B4-BE49-F238E27FC236}">
                  <a16:creationId xmlns:a16="http://schemas.microsoft.com/office/drawing/2014/main" id="{AA059CF7-458A-35A6-4385-EAEFA765B3B8}"/>
                </a:ext>
              </a:extLst>
            </p:cNvPr>
            <p:cNvSpPr/>
            <p:nvPr/>
          </p:nvSpPr>
          <p:spPr>
            <a:xfrm>
              <a:off x="3621605" y="8642689"/>
              <a:ext cx="439420"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lang="en-US"/>
            </a:p>
          </p:txBody>
        </p:sp>
      </p:grpSp>
      <p:sp>
        <p:nvSpPr>
          <p:cNvPr id="12" name="object 26">
            <a:extLst>
              <a:ext uri="{FF2B5EF4-FFF2-40B4-BE49-F238E27FC236}">
                <a16:creationId xmlns:a16="http://schemas.microsoft.com/office/drawing/2014/main" id="{558E2425-5786-1F2D-FF59-46676BB55D45}"/>
              </a:ext>
            </a:extLst>
          </p:cNvPr>
          <p:cNvSpPr txBox="1"/>
          <p:nvPr/>
        </p:nvSpPr>
        <p:spPr>
          <a:xfrm>
            <a:off x="295094" y="676685"/>
            <a:ext cx="6545766" cy="566822"/>
          </a:xfrm>
          <a:prstGeom prst="rect">
            <a:avLst/>
          </a:prstGeom>
        </p:spPr>
        <p:txBody>
          <a:bodyPr vert="horz" wrap="square" lIns="0" tIns="12700" rIns="0" bIns="0" rtlCol="0">
            <a:spAutoFit/>
          </a:bodyPr>
          <a:lstStyle/>
          <a:p>
            <a:pPr marL="12700">
              <a:spcBef>
                <a:spcPts val="100"/>
              </a:spcBef>
            </a:pPr>
            <a:r>
              <a:rPr lang="en-SC" sz="3600" b="1" dirty="0"/>
              <a:t>INTRODUCTION</a:t>
            </a:r>
            <a:r>
              <a:rPr lang="en-US" sz="3600" b="1" dirty="0"/>
              <a:t>/</a:t>
            </a:r>
            <a:r>
              <a:rPr lang="en-SC" sz="3600" b="1" dirty="0"/>
              <a:t>BACKGROUND</a:t>
            </a:r>
            <a:endParaRPr lang="en-US" sz="5400" dirty="0">
              <a:cs typeface="Source Sans Pro Light"/>
            </a:endParaRPr>
          </a:p>
        </p:txBody>
      </p:sp>
    </p:spTree>
    <p:extLst>
      <p:ext uri="{BB962C8B-B14F-4D97-AF65-F5344CB8AC3E}">
        <p14:creationId xmlns:p14="http://schemas.microsoft.com/office/powerpoint/2010/main" val="2184774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19995-64BA-DCA3-A506-EBB75CA02994}"/>
            </a:ext>
          </a:extLst>
        </p:cNvPr>
        <p:cNvGrpSpPr/>
        <p:nvPr/>
      </p:nvGrpSpPr>
      <p:grpSpPr>
        <a:xfrm>
          <a:off x="0" y="0"/>
          <a:ext cx="0" cy="0"/>
          <a:chOff x="0" y="0"/>
          <a:chExt cx="0" cy="0"/>
        </a:xfrm>
      </p:grpSpPr>
      <p:sp>
        <p:nvSpPr>
          <p:cNvPr id="18" name="object 14">
            <a:extLst>
              <a:ext uri="{FF2B5EF4-FFF2-40B4-BE49-F238E27FC236}">
                <a16:creationId xmlns:a16="http://schemas.microsoft.com/office/drawing/2014/main" id="{507DC580-A958-4BC1-6527-0D21422AEE04}"/>
              </a:ext>
            </a:extLst>
          </p:cNvPr>
          <p:cNvSpPr txBox="1"/>
          <p:nvPr/>
        </p:nvSpPr>
        <p:spPr>
          <a:xfrm>
            <a:off x="91889" y="1385687"/>
            <a:ext cx="13209910" cy="9184566"/>
          </a:xfrm>
          <a:prstGeom prst="rect">
            <a:avLst/>
          </a:prstGeom>
        </p:spPr>
        <p:txBody>
          <a:bodyPr vert="horz" wrap="square" lIns="0" tIns="12700" rIns="0" bIns="0" rtlCol="0">
            <a:spAutoFit/>
          </a:bodyPr>
          <a:lstStyle/>
          <a:p>
            <a:pPr lvl="0"/>
            <a:r>
              <a:rPr lang="en-US" sz="3200" dirty="0"/>
              <a:t>CURRENT KNOWLEDGE </a:t>
            </a:r>
          </a:p>
          <a:p>
            <a:pPr marL="457200" lvl="0" indent="-457200">
              <a:buFont typeface="Wingdings" panose="05000000000000000000" pitchFamily="2" charset="2"/>
              <a:buChar char="v"/>
            </a:pPr>
            <a:r>
              <a:rPr lang="en-US" sz="3600" dirty="0"/>
              <a:t>The prevailing understanding of the reason behind informatics inconsistency and reluctance is frequently disjointed or context-dependent.</a:t>
            </a:r>
          </a:p>
          <a:p>
            <a:pPr lvl="0"/>
            <a:endParaRPr lang="en-US" sz="3600" dirty="0"/>
          </a:p>
          <a:p>
            <a:pPr marL="457200" lvl="0" indent="-457200">
              <a:buFont typeface="Wingdings" panose="05000000000000000000" pitchFamily="2" charset="2"/>
              <a:buChar char="v"/>
            </a:pPr>
            <a:r>
              <a:rPr lang="en-US" sz="3600" dirty="0"/>
              <a:t>A thorough synthesis that integrates such facilitators and barriers to informatics adoption across diverse contexts remains lacking. Thus, the rationale for conducting this study. </a:t>
            </a:r>
          </a:p>
          <a:p>
            <a:pPr lvl="0"/>
            <a:endParaRPr lang="en-US" sz="3600" dirty="0"/>
          </a:p>
          <a:p>
            <a:pPr marL="457200" lvl="0" indent="-457200">
              <a:buFont typeface="Wingdings" panose="05000000000000000000" pitchFamily="2" charset="2"/>
              <a:buChar char="v"/>
            </a:pPr>
            <a:r>
              <a:rPr lang="en-US" sz="3600" dirty="0"/>
              <a:t>This study was a </a:t>
            </a:r>
            <a:r>
              <a:rPr lang="en-US" sz="3600" i="0" dirty="0">
                <a:solidFill>
                  <a:srgbClr val="0A0A0A"/>
                </a:solidFill>
                <a:effectLst/>
              </a:rPr>
              <a:t>systematic review. Systematic review research is</a:t>
            </a:r>
            <a:r>
              <a:rPr lang="en-US" sz="3600" b="0" i="0" dirty="0">
                <a:solidFill>
                  <a:srgbClr val="0A0A0A"/>
                </a:solidFill>
                <a:effectLst/>
              </a:rPr>
              <a:t> located </a:t>
            </a:r>
            <a:r>
              <a:rPr lang="en-US" sz="3600" dirty="0"/>
              <a:t>at the </a:t>
            </a:r>
            <a:r>
              <a:rPr lang="en-US" sz="3600" dirty="0">
                <a:effectLst/>
              </a:rPr>
              <a:t>apex</a:t>
            </a:r>
            <a:r>
              <a:rPr lang="en-US" sz="3600" b="0" i="0" dirty="0">
                <a:solidFill>
                  <a:srgbClr val="0A0A0A"/>
                </a:solidFill>
                <a:effectLst/>
              </a:rPr>
              <a:t> of the evidence-based practice</a:t>
            </a:r>
            <a:r>
              <a:rPr lang="en-US" sz="3600" i="0" dirty="0">
                <a:solidFill>
                  <a:srgbClr val="0A0A0A"/>
                </a:solidFill>
                <a:effectLst/>
              </a:rPr>
              <a:t> research pyramid</a:t>
            </a:r>
            <a:r>
              <a:rPr lang="en-US" sz="3600" b="0" i="0" dirty="0">
                <a:solidFill>
                  <a:srgbClr val="0A0A0A"/>
                </a:solidFill>
                <a:effectLst/>
              </a:rPr>
              <a:t>. It represents the highest level of evidence because it synthesizes findings from multiple relevant primary studies to provide a comprehensive, unbiased summary of current research on the informatics major barriers and facilitators.</a:t>
            </a:r>
          </a:p>
          <a:p>
            <a:pPr lvl="0"/>
            <a:endParaRPr lang="en-US" sz="3200" dirty="0">
              <a:solidFill>
                <a:srgbClr val="0A0A0A"/>
              </a:solidFill>
            </a:endParaRPr>
          </a:p>
          <a:p>
            <a:pPr marL="457200" lvl="0" indent="-457200">
              <a:buFont typeface="Wingdings" panose="05000000000000000000" pitchFamily="2" charset="2"/>
              <a:buChar char="v"/>
            </a:pPr>
            <a:endParaRPr lang="en-US" sz="2800" dirty="0"/>
          </a:p>
        </p:txBody>
      </p:sp>
      <p:sp>
        <p:nvSpPr>
          <p:cNvPr id="7" name="Footer Placeholder 6">
            <a:extLst>
              <a:ext uri="{FF2B5EF4-FFF2-40B4-BE49-F238E27FC236}">
                <a16:creationId xmlns:a16="http://schemas.microsoft.com/office/drawing/2014/main" id="{C0EAF48E-9C26-3BC1-D092-FF60ABBBAE98}"/>
              </a:ext>
            </a:extLst>
          </p:cNvPr>
          <p:cNvSpPr>
            <a:spLocks noGrp="1"/>
          </p:cNvSpPr>
          <p:nvPr>
            <p:ph type="ftr" sz="quarter" idx="11"/>
          </p:nvPr>
        </p:nvSpPr>
        <p:spPr/>
        <p:txBody>
          <a:bodyPr/>
          <a:lstStyle/>
          <a:p>
            <a:r>
              <a:rPr lang="en-US"/>
              <a:t>NARS Exploring Research in Nursing </a:t>
            </a:r>
            <a:endParaRPr lang="cs-CZ"/>
          </a:p>
        </p:txBody>
      </p:sp>
      <p:sp>
        <p:nvSpPr>
          <p:cNvPr id="8" name="Slide Number Placeholder 7">
            <a:extLst>
              <a:ext uri="{FF2B5EF4-FFF2-40B4-BE49-F238E27FC236}">
                <a16:creationId xmlns:a16="http://schemas.microsoft.com/office/drawing/2014/main" id="{94ADE5F1-B060-35BA-530E-0501ADDF60CE}"/>
              </a:ext>
            </a:extLst>
          </p:cNvPr>
          <p:cNvSpPr>
            <a:spLocks noGrp="1"/>
          </p:cNvSpPr>
          <p:nvPr>
            <p:ph type="sldNum" sz="quarter" idx="12"/>
          </p:nvPr>
        </p:nvSpPr>
        <p:spPr/>
        <p:txBody>
          <a:bodyPr/>
          <a:lstStyle/>
          <a:p>
            <a:fld id="{B6F15528-21DE-4FAA-801E-634DDDAF4B2B}" type="slidenum">
              <a:rPr lang="cs-CZ" smtClean="0"/>
              <a:t>3</a:t>
            </a:fld>
            <a:endParaRPr lang="cs-CZ"/>
          </a:p>
        </p:txBody>
      </p:sp>
      <p:grpSp>
        <p:nvGrpSpPr>
          <p:cNvPr id="9" name="Group 8">
            <a:extLst>
              <a:ext uri="{FF2B5EF4-FFF2-40B4-BE49-F238E27FC236}">
                <a16:creationId xmlns:a16="http://schemas.microsoft.com/office/drawing/2014/main" id="{5D7B41BF-B218-D6F4-E235-20586280A080}"/>
              </a:ext>
            </a:extLst>
          </p:cNvPr>
          <p:cNvGrpSpPr/>
          <p:nvPr/>
        </p:nvGrpSpPr>
        <p:grpSpPr>
          <a:xfrm>
            <a:off x="1" y="546100"/>
            <a:ext cx="7219156" cy="828000"/>
            <a:chOff x="564554" y="8642689"/>
            <a:chExt cx="3496471" cy="439424"/>
          </a:xfrm>
        </p:grpSpPr>
        <p:sp>
          <p:nvSpPr>
            <p:cNvPr id="10" name="object 4">
              <a:extLst>
                <a:ext uri="{FF2B5EF4-FFF2-40B4-BE49-F238E27FC236}">
                  <a16:creationId xmlns:a16="http://schemas.microsoft.com/office/drawing/2014/main" id="{5107A993-D284-7431-3A42-A417C1AB1492}"/>
                </a:ext>
              </a:extLst>
            </p:cNvPr>
            <p:cNvSpPr/>
            <p:nvPr/>
          </p:nvSpPr>
          <p:spPr>
            <a:xfrm>
              <a:off x="564554" y="8642693"/>
              <a:ext cx="3280372" cy="43942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p:spPr>
          <p:txBody>
            <a:bodyPr wrap="square" lIns="0" tIns="0" rIns="0" bIns="0" rtlCol="0"/>
            <a:lstStyle/>
            <a:p>
              <a:endParaRPr lang="en-US"/>
            </a:p>
          </p:txBody>
        </p:sp>
        <p:sp>
          <p:nvSpPr>
            <p:cNvPr id="11" name="object 5">
              <a:extLst>
                <a:ext uri="{FF2B5EF4-FFF2-40B4-BE49-F238E27FC236}">
                  <a16:creationId xmlns:a16="http://schemas.microsoft.com/office/drawing/2014/main" id="{7B4DDA81-493B-45A2-5C71-1A038ECD5AE1}"/>
                </a:ext>
              </a:extLst>
            </p:cNvPr>
            <p:cNvSpPr/>
            <p:nvPr/>
          </p:nvSpPr>
          <p:spPr>
            <a:xfrm>
              <a:off x="3621605" y="8642689"/>
              <a:ext cx="439420"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lang="en-US"/>
            </a:p>
          </p:txBody>
        </p:sp>
      </p:grpSp>
      <p:sp>
        <p:nvSpPr>
          <p:cNvPr id="13" name="TextBox 12">
            <a:extLst>
              <a:ext uri="{FF2B5EF4-FFF2-40B4-BE49-F238E27FC236}">
                <a16:creationId xmlns:a16="http://schemas.microsoft.com/office/drawing/2014/main" id="{75CC46C4-FFE1-BAAA-0006-D404884AAF6E}"/>
              </a:ext>
            </a:extLst>
          </p:cNvPr>
          <p:cNvSpPr txBox="1"/>
          <p:nvPr/>
        </p:nvSpPr>
        <p:spPr>
          <a:xfrm>
            <a:off x="216124" y="636930"/>
            <a:ext cx="9506856" cy="646331"/>
          </a:xfrm>
          <a:prstGeom prst="rect">
            <a:avLst/>
          </a:prstGeom>
          <a:noFill/>
        </p:spPr>
        <p:txBody>
          <a:bodyPr wrap="square">
            <a:spAutoFit/>
          </a:bodyPr>
          <a:lstStyle/>
          <a:p>
            <a:r>
              <a:rPr lang="en-US" sz="3600" b="1" dirty="0"/>
              <a:t>PROBLEM STATEMENT </a:t>
            </a:r>
          </a:p>
        </p:txBody>
      </p:sp>
      <p:pic>
        <p:nvPicPr>
          <p:cNvPr id="4" name="Picture 3">
            <a:extLst>
              <a:ext uri="{FF2B5EF4-FFF2-40B4-BE49-F238E27FC236}">
                <a16:creationId xmlns:a16="http://schemas.microsoft.com/office/drawing/2014/main" id="{BCBADBE1-34B4-B5DC-B0A0-8C48E7D3D5D9}"/>
              </a:ext>
            </a:extLst>
          </p:cNvPr>
          <p:cNvPicPr>
            <a:picLocks noChangeAspect="1"/>
          </p:cNvPicPr>
          <p:nvPr/>
        </p:nvPicPr>
        <p:blipFill>
          <a:blip r:embed="rId2"/>
          <a:stretch>
            <a:fillRect/>
          </a:stretch>
        </p:blipFill>
        <p:spPr>
          <a:xfrm>
            <a:off x="13177564" y="1026221"/>
            <a:ext cx="5544616" cy="8898854"/>
          </a:xfrm>
          <a:prstGeom prst="rect">
            <a:avLst/>
          </a:prstGeom>
        </p:spPr>
      </p:pic>
    </p:spTree>
    <p:extLst>
      <p:ext uri="{BB962C8B-B14F-4D97-AF65-F5344CB8AC3E}">
        <p14:creationId xmlns:p14="http://schemas.microsoft.com/office/powerpoint/2010/main" val="630182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p:nvPr/>
        </p:nvSpPr>
        <p:spPr>
          <a:xfrm>
            <a:off x="52966" y="1366392"/>
            <a:ext cx="18453189" cy="1113125"/>
          </a:xfrm>
          <a:prstGeom prst="rect">
            <a:avLst/>
          </a:prstGeom>
        </p:spPr>
        <p:txBody>
          <a:bodyPr vert="horz" wrap="square" lIns="0" tIns="5080" rIns="0" bIns="0" rtlCol="0">
            <a:spAutoFit/>
          </a:bodyPr>
          <a:lstStyle/>
          <a:p>
            <a:pPr marL="12700" marR="5080" algn="just">
              <a:lnSpc>
                <a:spcPct val="100000"/>
              </a:lnSpc>
              <a:spcBef>
                <a:spcPts val="100"/>
              </a:spcBef>
            </a:pPr>
            <a:r>
              <a:rPr lang="en-US" sz="3600" dirty="0"/>
              <a:t>This study aimed to systematically review and explore major barriers and facilitators that influence Nurses and Physicians’ Adoption and Implementation of Informatics in Healthcare delivery </a:t>
            </a:r>
          </a:p>
        </p:txBody>
      </p:sp>
      <p:sp>
        <p:nvSpPr>
          <p:cNvPr id="11" name="object 11"/>
          <p:cNvSpPr txBox="1"/>
          <p:nvPr/>
        </p:nvSpPr>
        <p:spPr>
          <a:xfrm>
            <a:off x="-18812" y="3322411"/>
            <a:ext cx="18813000" cy="4470455"/>
          </a:xfrm>
          <a:prstGeom prst="rect">
            <a:avLst/>
          </a:prstGeom>
        </p:spPr>
        <p:txBody>
          <a:bodyPr vert="horz" wrap="square" lIns="0" tIns="12700" rIns="0" bIns="0" rtlCol="0">
            <a:spAutoFit/>
          </a:bodyPr>
          <a:lstStyle/>
          <a:p>
            <a:pPr marL="469900" marR="5080" indent="-457200" algn="just">
              <a:spcBef>
                <a:spcPts val="100"/>
              </a:spcBef>
              <a:buFont typeface="Wingdings" panose="05000000000000000000" pitchFamily="2" charset="2"/>
              <a:buChar char="Ø"/>
            </a:pPr>
            <a:r>
              <a:rPr lang="en-US" sz="3600" dirty="0"/>
              <a:t>To systematically identify and synthesize existing literature on the barriers and facilitators of integrating informatics into healthcare delivery systems, enabling an evidence-based discovery of barriers and facilitators faced by nurses and physicians during care delivery</a:t>
            </a:r>
          </a:p>
          <a:p>
            <a:pPr marL="469900" marR="5080" indent="-457200" algn="just">
              <a:spcBef>
                <a:spcPts val="100"/>
              </a:spcBef>
              <a:buFont typeface="Wingdings" panose="05000000000000000000" pitchFamily="2" charset="2"/>
              <a:buChar char="Ø"/>
            </a:pPr>
            <a:r>
              <a:rPr lang="en-US" sz="3600" dirty="0"/>
              <a:t>To explore and categorize key barriers and facilitators through in-depth analysis of real-world experience.</a:t>
            </a:r>
          </a:p>
          <a:p>
            <a:pPr marL="469900" marR="5080" indent="-457200" algn="just">
              <a:spcBef>
                <a:spcPts val="100"/>
              </a:spcBef>
              <a:buFont typeface="Wingdings" panose="05000000000000000000" pitchFamily="2" charset="2"/>
              <a:buChar char="Ø"/>
            </a:pPr>
            <a:r>
              <a:rPr lang="en-US" sz="3600" dirty="0"/>
              <a:t>To evaluate the impact of identified barriers and facilitators and different healthcare delivery aspects, thereby enabling evidence-based recommendations to improve integration by nurses and doctors in clinical settings </a:t>
            </a:r>
          </a:p>
        </p:txBody>
      </p:sp>
      <p:sp>
        <p:nvSpPr>
          <p:cNvPr id="12" name="object 12"/>
          <p:cNvSpPr txBox="1"/>
          <p:nvPr/>
        </p:nvSpPr>
        <p:spPr>
          <a:xfrm>
            <a:off x="299794" y="7936162"/>
            <a:ext cx="17164052" cy="1741502"/>
          </a:xfrm>
          <a:prstGeom prst="rect">
            <a:avLst/>
          </a:prstGeom>
        </p:spPr>
        <p:txBody>
          <a:bodyPr vert="horz" wrap="square" lIns="0" tIns="5080" rIns="0" bIns="0" rtlCol="0">
            <a:spAutoFit/>
          </a:bodyPr>
          <a:lstStyle/>
          <a:p>
            <a:pPr marL="12700">
              <a:lnSpc>
                <a:spcPct val="100000"/>
              </a:lnSpc>
              <a:spcBef>
                <a:spcPts val="100"/>
              </a:spcBef>
            </a:pPr>
            <a:r>
              <a:rPr lang="en-US" sz="3200" b="1" u="sng" dirty="0"/>
              <a:t>RESEARCH QUESTION</a:t>
            </a:r>
          </a:p>
          <a:p>
            <a:pPr marL="12700">
              <a:lnSpc>
                <a:spcPct val="100000"/>
              </a:lnSpc>
              <a:spcBef>
                <a:spcPts val="100"/>
              </a:spcBef>
            </a:pPr>
            <a:r>
              <a:rPr lang="en-US" sz="4000" dirty="0"/>
              <a:t>What are the Major Barriers and Facilitators of the Adoption and Implementation of health informatics in healthcare delivery by Nurses and Physicians?</a:t>
            </a:r>
          </a:p>
        </p:txBody>
      </p:sp>
      <p:sp>
        <p:nvSpPr>
          <p:cNvPr id="22" name="object 22"/>
          <p:cNvSpPr txBox="1"/>
          <p:nvPr/>
        </p:nvSpPr>
        <p:spPr>
          <a:xfrm>
            <a:off x="267350" y="2751061"/>
            <a:ext cx="4806156" cy="566822"/>
          </a:xfrm>
          <a:prstGeom prst="rect">
            <a:avLst/>
          </a:prstGeom>
        </p:spPr>
        <p:txBody>
          <a:bodyPr vert="horz" wrap="square" lIns="0" tIns="12700" rIns="0" bIns="0" rtlCol="0">
            <a:spAutoFit/>
          </a:bodyPr>
          <a:lstStyle/>
          <a:p>
            <a:pPr marL="12700">
              <a:spcBef>
                <a:spcPts val="100"/>
              </a:spcBef>
            </a:pPr>
            <a:r>
              <a:rPr lang="en-US" sz="3600" b="1" u="sng" spc="-10" dirty="0">
                <a:cs typeface="Source Sans Pro Light"/>
              </a:rPr>
              <a:t>Research </a:t>
            </a:r>
            <a:r>
              <a:rPr lang="en-US" sz="3600" b="1" u="sng" spc="-35" dirty="0">
                <a:cs typeface="Source Sans Pro Light"/>
              </a:rPr>
              <a:t> </a:t>
            </a:r>
            <a:r>
              <a:rPr lang="en-US" sz="3600" b="1" u="sng" spc="-5" dirty="0">
                <a:cs typeface="Source Sans Pro Light"/>
              </a:rPr>
              <a:t>Objectives</a:t>
            </a:r>
            <a:endParaRPr lang="en-US" sz="3600" b="1" u="sng" dirty="0">
              <a:cs typeface="Source Sans Pro Light"/>
            </a:endParaRPr>
          </a:p>
        </p:txBody>
      </p:sp>
      <p:sp>
        <p:nvSpPr>
          <p:cNvPr id="4" name="Footer Placeholder 3">
            <a:extLst>
              <a:ext uri="{FF2B5EF4-FFF2-40B4-BE49-F238E27FC236}">
                <a16:creationId xmlns:a16="http://schemas.microsoft.com/office/drawing/2014/main" id="{6012C8AF-D02D-570A-704E-4E04CA593447}"/>
              </a:ext>
            </a:extLst>
          </p:cNvPr>
          <p:cNvSpPr>
            <a:spLocks noGrp="1"/>
          </p:cNvSpPr>
          <p:nvPr>
            <p:ph type="ftr" sz="quarter" idx="11"/>
          </p:nvPr>
        </p:nvSpPr>
        <p:spPr/>
        <p:txBody>
          <a:bodyPr/>
          <a:lstStyle/>
          <a:p>
            <a:r>
              <a:rPr lang="en-US" dirty="0"/>
              <a:t>NARS Exploring Research in Nursing </a:t>
            </a:r>
            <a:endParaRPr lang="cs-CZ" dirty="0"/>
          </a:p>
        </p:txBody>
      </p:sp>
      <p:sp>
        <p:nvSpPr>
          <p:cNvPr id="5" name="Slide Number Placeholder 4">
            <a:extLst>
              <a:ext uri="{FF2B5EF4-FFF2-40B4-BE49-F238E27FC236}">
                <a16:creationId xmlns:a16="http://schemas.microsoft.com/office/drawing/2014/main" id="{F45195D7-24C6-DDB8-31C6-7C9E57A9D620}"/>
              </a:ext>
            </a:extLst>
          </p:cNvPr>
          <p:cNvSpPr>
            <a:spLocks noGrp="1"/>
          </p:cNvSpPr>
          <p:nvPr>
            <p:ph type="sldNum" sz="quarter" idx="12"/>
          </p:nvPr>
        </p:nvSpPr>
        <p:spPr/>
        <p:txBody>
          <a:bodyPr/>
          <a:lstStyle/>
          <a:p>
            <a:fld id="{B6F15528-21DE-4FAA-801E-634DDDAF4B2B}" type="slidenum">
              <a:rPr lang="cs-CZ" smtClean="0"/>
              <a:t>4</a:t>
            </a:fld>
            <a:endParaRPr lang="cs-CZ"/>
          </a:p>
        </p:txBody>
      </p:sp>
      <p:sp>
        <p:nvSpPr>
          <p:cNvPr id="8" name="object 5">
            <a:extLst>
              <a:ext uri="{FF2B5EF4-FFF2-40B4-BE49-F238E27FC236}">
                <a16:creationId xmlns:a16="http://schemas.microsoft.com/office/drawing/2014/main" id="{76ADC877-0B62-04C9-AFFF-02DAB705F8DD}"/>
              </a:ext>
            </a:extLst>
          </p:cNvPr>
          <p:cNvSpPr/>
          <p:nvPr/>
        </p:nvSpPr>
        <p:spPr>
          <a:xfrm>
            <a:off x="6333285" y="440302"/>
            <a:ext cx="907270" cy="827992"/>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lang="en-US"/>
          </a:p>
        </p:txBody>
      </p:sp>
      <p:sp>
        <p:nvSpPr>
          <p:cNvPr id="9" name="object 9">
            <a:extLst>
              <a:ext uri="{FF2B5EF4-FFF2-40B4-BE49-F238E27FC236}">
                <a16:creationId xmlns:a16="http://schemas.microsoft.com/office/drawing/2014/main" id="{9C7628DC-7EC8-9A1C-F8C5-75A47C565E3E}"/>
              </a:ext>
            </a:extLst>
          </p:cNvPr>
          <p:cNvSpPr txBox="1"/>
          <p:nvPr/>
        </p:nvSpPr>
        <p:spPr>
          <a:xfrm>
            <a:off x="299794" y="570887"/>
            <a:ext cx="3581400" cy="566822"/>
          </a:xfrm>
          <a:prstGeom prst="rect">
            <a:avLst/>
          </a:prstGeom>
        </p:spPr>
        <p:txBody>
          <a:bodyPr vert="horz" wrap="square" lIns="0" tIns="12700" rIns="0" bIns="0" rtlCol="0">
            <a:spAutoFit/>
          </a:bodyPr>
          <a:lstStyle/>
          <a:p>
            <a:pPr>
              <a:lnSpc>
                <a:spcPct val="100000"/>
              </a:lnSpc>
              <a:spcBef>
                <a:spcPts val="100"/>
              </a:spcBef>
            </a:pPr>
            <a:r>
              <a:rPr lang="en-US" sz="3600" b="1" u="sng" dirty="0"/>
              <a:t>RESEARCH AIM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E9DC037C-C731-4D52-835A-5765F8A4FBF2}"/>
              </a:ext>
            </a:extLst>
          </p:cNvPr>
          <p:cNvGrpSpPr/>
          <p:nvPr/>
        </p:nvGrpSpPr>
        <p:grpSpPr>
          <a:xfrm>
            <a:off x="0" y="505067"/>
            <a:ext cx="7219156" cy="828000"/>
            <a:chOff x="564554" y="8642689"/>
            <a:chExt cx="3496471" cy="439424"/>
          </a:xfrm>
        </p:grpSpPr>
        <p:sp>
          <p:nvSpPr>
            <p:cNvPr id="24" name="object 4">
              <a:extLst>
                <a:ext uri="{FF2B5EF4-FFF2-40B4-BE49-F238E27FC236}">
                  <a16:creationId xmlns:a16="http://schemas.microsoft.com/office/drawing/2014/main" id="{FAC1F606-62F6-4305-800B-EF4BDCC04BC6}"/>
                </a:ext>
              </a:extLst>
            </p:cNvPr>
            <p:cNvSpPr/>
            <p:nvPr/>
          </p:nvSpPr>
          <p:spPr>
            <a:xfrm>
              <a:off x="564554" y="8642693"/>
              <a:ext cx="3280372" cy="43942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p:spPr>
          <p:txBody>
            <a:bodyPr wrap="square" lIns="0" tIns="0" rIns="0" bIns="0" rtlCol="0"/>
            <a:lstStyle/>
            <a:p>
              <a:endParaRPr lang="en-US"/>
            </a:p>
          </p:txBody>
        </p:sp>
        <p:sp>
          <p:nvSpPr>
            <p:cNvPr id="25" name="object 5">
              <a:extLst>
                <a:ext uri="{FF2B5EF4-FFF2-40B4-BE49-F238E27FC236}">
                  <a16:creationId xmlns:a16="http://schemas.microsoft.com/office/drawing/2014/main" id="{DE9D9B32-EA9E-452A-AFED-2BFD37C8107A}"/>
                </a:ext>
              </a:extLst>
            </p:cNvPr>
            <p:cNvSpPr/>
            <p:nvPr/>
          </p:nvSpPr>
          <p:spPr>
            <a:xfrm>
              <a:off x="3621605" y="8642689"/>
              <a:ext cx="439420"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lang="en-US"/>
            </a:p>
          </p:txBody>
        </p:sp>
      </p:grpSp>
      <p:sp>
        <p:nvSpPr>
          <p:cNvPr id="11" name="object 9">
            <a:extLst>
              <a:ext uri="{FF2B5EF4-FFF2-40B4-BE49-F238E27FC236}">
                <a16:creationId xmlns:a16="http://schemas.microsoft.com/office/drawing/2014/main" id="{0A39365D-A6B5-4623-AC67-FBE1BB6FC527}"/>
              </a:ext>
            </a:extLst>
          </p:cNvPr>
          <p:cNvSpPr txBox="1"/>
          <p:nvPr/>
        </p:nvSpPr>
        <p:spPr>
          <a:xfrm>
            <a:off x="479833" y="651197"/>
            <a:ext cx="10439400" cy="566822"/>
          </a:xfrm>
          <a:prstGeom prst="rect">
            <a:avLst/>
          </a:prstGeom>
        </p:spPr>
        <p:txBody>
          <a:bodyPr vert="horz" wrap="square" lIns="0" tIns="12700" rIns="0" bIns="0" rtlCol="0">
            <a:spAutoFit/>
          </a:bodyPr>
          <a:lstStyle/>
          <a:p>
            <a:pPr marL="12700">
              <a:lnSpc>
                <a:spcPct val="100000"/>
              </a:lnSpc>
              <a:spcBef>
                <a:spcPts val="100"/>
              </a:spcBef>
            </a:pPr>
            <a:r>
              <a:rPr lang="en-US" sz="3600" b="1" dirty="0"/>
              <a:t>METHODOLOGY</a:t>
            </a:r>
            <a:r>
              <a:rPr lang="en-US" sz="2800" dirty="0">
                <a:cs typeface="Source Sans Pro Light"/>
              </a:rPr>
              <a:t> </a:t>
            </a:r>
          </a:p>
        </p:txBody>
      </p:sp>
      <p:sp>
        <p:nvSpPr>
          <p:cNvPr id="20" name="object 9">
            <a:extLst>
              <a:ext uri="{FF2B5EF4-FFF2-40B4-BE49-F238E27FC236}">
                <a16:creationId xmlns:a16="http://schemas.microsoft.com/office/drawing/2014/main" id="{B45F3059-DB31-42C8-B7A0-1E0CF61C7BA8}"/>
              </a:ext>
            </a:extLst>
          </p:cNvPr>
          <p:cNvSpPr txBox="1"/>
          <p:nvPr/>
        </p:nvSpPr>
        <p:spPr>
          <a:xfrm>
            <a:off x="646111" y="4290100"/>
            <a:ext cx="10439400" cy="443711"/>
          </a:xfrm>
          <a:prstGeom prst="rect">
            <a:avLst/>
          </a:prstGeom>
        </p:spPr>
        <p:txBody>
          <a:bodyPr vert="horz" wrap="square" lIns="0" tIns="12700" rIns="0" bIns="0" rtlCol="0">
            <a:spAutoFit/>
          </a:bodyPr>
          <a:lstStyle/>
          <a:p>
            <a:pPr marL="12700">
              <a:lnSpc>
                <a:spcPct val="100000"/>
              </a:lnSpc>
              <a:spcBef>
                <a:spcPts val="100"/>
              </a:spcBef>
            </a:pPr>
            <a:r>
              <a:rPr lang="en-US" sz="2800" dirty="0">
                <a:solidFill>
                  <a:srgbClr val="FFFFFF"/>
                </a:solidFill>
                <a:cs typeface="Source Sans Pro Light"/>
              </a:rPr>
              <a:t>2. Discussion – Virus, </a:t>
            </a:r>
            <a:r>
              <a:rPr lang="en-US" sz="2800" spc="-15" dirty="0">
                <a:solidFill>
                  <a:srgbClr val="FFFFFF"/>
                </a:solidFill>
                <a:cs typeface="Source Sans Pro Light"/>
              </a:rPr>
              <a:t>a </a:t>
            </a:r>
            <a:r>
              <a:rPr lang="en-US" sz="2800" spc="-10" dirty="0">
                <a:solidFill>
                  <a:srgbClr val="FFFFFF"/>
                </a:solidFill>
                <a:cs typeface="Source Sans Pro Light"/>
              </a:rPr>
              <a:t>mortal</a:t>
            </a:r>
            <a:r>
              <a:rPr lang="en-US" sz="2800" spc="-55" dirty="0">
                <a:solidFill>
                  <a:srgbClr val="FFFFFF"/>
                </a:solidFill>
                <a:cs typeface="Source Sans Pro Light"/>
              </a:rPr>
              <a:t> </a:t>
            </a:r>
            <a:r>
              <a:rPr lang="en-US" sz="2800" dirty="0">
                <a:solidFill>
                  <a:srgbClr val="FFFFFF"/>
                </a:solidFill>
                <a:cs typeface="Source Sans Pro Light"/>
              </a:rPr>
              <a:t>enemy</a:t>
            </a:r>
            <a:endParaRPr lang="en-US" sz="2800" dirty="0">
              <a:cs typeface="Source Sans Pro Light"/>
            </a:endParaRPr>
          </a:p>
        </p:txBody>
      </p:sp>
      <p:sp>
        <p:nvSpPr>
          <p:cNvPr id="32" name="object 22">
            <a:extLst>
              <a:ext uri="{FF2B5EF4-FFF2-40B4-BE49-F238E27FC236}">
                <a16:creationId xmlns:a16="http://schemas.microsoft.com/office/drawing/2014/main" id="{FFE835CB-1608-76E4-B898-023F027540E1}"/>
              </a:ext>
            </a:extLst>
          </p:cNvPr>
          <p:cNvSpPr txBox="1"/>
          <p:nvPr/>
        </p:nvSpPr>
        <p:spPr>
          <a:xfrm>
            <a:off x="222675" y="3546500"/>
            <a:ext cx="11802761" cy="10202793"/>
          </a:xfrm>
          <a:prstGeom prst="rect">
            <a:avLst/>
          </a:prstGeom>
        </p:spPr>
        <p:txBody>
          <a:bodyPr vert="horz" wrap="square" lIns="0" tIns="12700" rIns="0" bIns="0" rtlCol="0">
            <a:spAutoFit/>
          </a:bodyPr>
          <a:lstStyle/>
          <a:p>
            <a:pPr marL="12700">
              <a:spcBef>
                <a:spcPts val="100"/>
              </a:spcBef>
            </a:pPr>
            <a:r>
              <a:rPr lang="en-US" sz="3200" b="1" u="sng" spc="-10" dirty="0">
                <a:cs typeface="Source Sans Pro Light"/>
              </a:rPr>
              <a:t>INCLUDED REVIEW STUDY LIST</a:t>
            </a:r>
          </a:p>
          <a:p>
            <a:pPr marL="469900" indent="-457200">
              <a:spcBef>
                <a:spcPts val="100"/>
              </a:spcBef>
              <a:buFont typeface="Wingdings" panose="05000000000000000000" pitchFamily="2" charset="2"/>
              <a:buChar char="v"/>
            </a:pPr>
            <a:r>
              <a:rPr lang="en-US" sz="3200" spc="-10" dirty="0">
                <a:cs typeface="Source Sans Pro Light"/>
              </a:rPr>
              <a:t>Bimerew (2024) Quantitative studies carried out in South Africa</a:t>
            </a:r>
          </a:p>
          <a:p>
            <a:pPr marL="469900" indent="-457200">
              <a:spcBef>
                <a:spcPts val="100"/>
              </a:spcBef>
              <a:buFont typeface="Wingdings" panose="05000000000000000000" pitchFamily="2" charset="2"/>
              <a:buChar char="v"/>
            </a:pPr>
            <a:r>
              <a:rPr lang="en-US" sz="3200" spc="-10" dirty="0">
                <a:cs typeface="Source Sans Pro Light"/>
              </a:rPr>
              <a:t>Bekele et al. (2024): Qualitative study conducted in Ethiopia</a:t>
            </a:r>
          </a:p>
          <a:p>
            <a:pPr marL="469900" indent="-457200">
              <a:spcBef>
                <a:spcPts val="100"/>
              </a:spcBef>
              <a:buFont typeface="Wingdings" panose="05000000000000000000" pitchFamily="2" charset="2"/>
              <a:buChar char="v"/>
            </a:pPr>
            <a:r>
              <a:rPr lang="en-US" sz="3200" spc="-10" dirty="0">
                <a:cs typeface="Source Sans Pro Light"/>
              </a:rPr>
              <a:t>Colins, Babu &amp; Honey (2024): Qualitative study conducted in New Zealand</a:t>
            </a:r>
          </a:p>
          <a:p>
            <a:pPr marL="469900" indent="-457200">
              <a:spcBef>
                <a:spcPts val="100"/>
              </a:spcBef>
              <a:buFont typeface="Wingdings" panose="05000000000000000000" pitchFamily="2" charset="2"/>
              <a:buChar char="v"/>
            </a:pPr>
            <a:r>
              <a:rPr lang="en-US" sz="3200" spc="-10" dirty="0" err="1">
                <a:cs typeface="Source Sans Pro Light"/>
              </a:rPr>
              <a:t>Alzghaibi</a:t>
            </a:r>
            <a:r>
              <a:rPr lang="en-US" sz="3200" spc="-10" dirty="0">
                <a:cs typeface="Source Sans Pro Light"/>
              </a:rPr>
              <a:t> (2024): Quantitative study conducted in Saudi Arabia</a:t>
            </a:r>
          </a:p>
          <a:p>
            <a:pPr marL="469900" indent="-457200">
              <a:spcBef>
                <a:spcPts val="100"/>
              </a:spcBef>
              <a:buFont typeface="Wingdings" panose="05000000000000000000" pitchFamily="2" charset="2"/>
              <a:buChar char="v"/>
            </a:pPr>
            <a:r>
              <a:rPr lang="en-US" sz="3200" spc="-10" dirty="0" err="1">
                <a:cs typeface="Source Sans Pro Light"/>
              </a:rPr>
              <a:t>Alrasheeday</a:t>
            </a:r>
            <a:r>
              <a:rPr lang="en-US" sz="3200" spc="-10" dirty="0">
                <a:cs typeface="Source Sans Pro Light"/>
              </a:rPr>
              <a:t> et al. (2023): Cross-sectional quantitative study carried out in Saudi Arabia</a:t>
            </a:r>
          </a:p>
          <a:p>
            <a:pPr marL="469900" indent="-457200">
              <a:spcBef>
                <a:spcPts val="100"/>
              </a:spcBef>
              <a:buFont typeface="Wingdings" panose="05000000000000000000" pitchFamily="2" charset="2"/>
              <a:buChar char="v"/>
            </a:pPr>
            <a:r>
              <a:rPr lang="en-US" sz="3200" spc="-10" dirty="0" err="1">
                <a:cs typeface="Source Sans Pro Light"/>
              </a:rPr>
              <a:t>Olorunfemi</a:t>
            </a:r>
            <a:r>
              <a:rPr lang="en-US" sz="3200" spc="-10" dirty="0">
                <a:cs typeface="Source Sans Pro Light"/>
              </a:rPr>
              <a:t> et al. (2020): Mixed-method study carried out in Nigeria</a:t>
            </a:r>
          </a:p>
          <a:p>
            <a:pPr marL="469900" indent="-457200">
              <a:spcBef>
                <a:spcPts val="100"/>
              </a:spcBef>
              <a:buFont typeface="Wingdings" panose="05000000000000000000" pitchFamily="2" charset="2"/>
              <a:buChar char="v"/>
            </a:pPr>
            <a:r>
              <a:rPr lang="en-US" sz="3200" spc="-10" dirty="0" err="1">
                <a:cs typeface="Source Sans Pro Light"/>
              </a:rPr>
              <a:t>Nouira</a:t>
            </a:r>
            <a:r>
              <a:rPr lang="en-US" sz="3200" spc="-10" dirty="0">
                <a:cs typeface="Source Sans Pro Light"/>
              </a:rPr>
              <a:t> &amp; </a:t>
            </a:r>
            <a:r>
              <a:rPr lang="en-US" sz="3200" spc="-10" dirty="0" err="1">
                <a:cs typeface="Source Sans Pro Light"/>
              </a:rPr>
              <a:t>Souaayah</a:t>
            </a:r>
            <a:r>
              <a:rPr lang="en-US" sz="3200" spc="-10" dirty="0">
                <a:cs typeface="Source Sans Pro Light"/>
              </a:rPr>
              <a:t> (2024): Quantitative studies carried out in Tunisia</a:t>
            </a:r>
          </a:p>
          <a:p>
            <a:pPr marL="469900" indent="-457200">
              <a:spcBef>
                <a:spcPts val="100"/>
              </a:spcBef>
              <a:buFont typeface="Wingdings" panose="05000000000000000000" pitchFamily="2" charset="2"/>
              <a:buChar char="v"/>
            </a:pPr>
            <a:r>
              <a:rPr lang="en-US" sz="3200" spc="-10" dirty="0" err="1">
                <a:cs typeface="Source Sans Pro Light"/>
              </a:rPr>
              <a:t>Infinde</a:t>
            </a:r>
            <a:r>
              <a:rPr lang="en-US" sz="3200" spc="-10" dirty="0">
                <a:cs typeface="Source Sans Pro Light"/>
              </a:rPr>
              <a:t> (2018): Quantitative studies, done in  Canada</a:t>
            </a:r>
          </a:p>
          <a:p>
            <a:pPr marL="469900" indent="-457200">
              <a:spcBef>
                <a:spcPts val="100"/>
              </a:spcBef>
              <a:buFont typeface="Wingdings" panose="05000000000000000000" pitchFamily="2" charset="2"/>
              <a:buChar char="v"/>
            </a:pPr>
            <a:r>
              <a:rPr lang="en-US" sz="3200" spc="-10" dirty="0">
                <a:cs typeface="Source Sans Pro Light"/>
              </a:rPr>
              <a:t>Liberati et al.(2017): A Qualitative study conducted in Italy</a:t>
            </a:r>
          </a:p>
          <a:p>
            <a:pPr marL="469900" indent="-457200">
              <a:spcBef>
                <a:spcPts val="100"/>
              </a:spcBef>
              <a:buFont typeface="Wingdings" panose="05000000000000000000" pitchFamily="2" charset="2"/>
              <a:buChar char="v"/>
            </a:pPr>
            <a:r>
              <a:rPr lang="en-US" sz="3200" spc="-10" dirty="0">
                <a:cs typeface="Source Sans Pro Light"/>
              </a:rPr>
              <a:t>Hashemi et al. (2020): A Qualitative research study carried out in Iran.</a:t>
            </a:r>
          </a:p>
          <a:p>
            <a:pPr marL="469900" indent="-457200">
              <a:spcBef>
                <a:spcPts val="100"/>
              </a:spcBef>
              <a:buFont typeface="Wingdings" panose="05000000000000000000" pitchFamily="2" charset="2"/>
              <a:buChar char="v"/>
            </a:pPr>
            <a:endParaRPr lang="en-US" sz="3200" spc="-10" dirty="0">
              <a:cs typeface="Source Sans Pro Light"/>
            </a:endParaRPr>
          </a:p>
          <a:p>
            <a:pPr marL="469900" indent="-457200">
              <a:spcBef>
                <a:spcPts val="100"/>
              </a:spcBef>
              <a:buFont typeface="Wingdings" panose="05000000000000000000" pitchFamily="2" charset="2"/>
              <a:buChar char="v"/>
            </a:pPr>
            <a:endParaRPr lang="en-US" sz="2800" spc="-10" dirty="0">
              <a:cs typeface="Source Sans Pro Light"/>
            </a:endParaRPr>
          </a:p>
          <a:p>
            <a:pPr marL="469900" indent="-457200">
              <a:spcBef>
                <a:spcPts val="100"/>
              </a:spcBef>
              <a:buFont typeface="Wingdings" panose="05000000000000000000" pitchFamily="2" charset="2"/>
              <a:buChar char="v"/>
            </a:pPr>
            <a:endParaRPr lang="en-US" sz="2800" spc="-10" dirty="0">
              <a:cs typeface="Source Sans Pro Light"/>
            </a:endParaRPr>
          </a:p>
          <a:p>
            <a:pPr marL="469900" indent="-457200">
              <a:spcBef>
                <a:spcPts val="100"/>
              </a:spcBef>
              <a:buFont typeface="Wingdings" panose="05000000000000000000" pitchFamily="2" charset="2"/>
              <a:buChar char="v"/>
            </a:pPr>
            <a:endParaRPr lang="en-US" sz="2800" spc="-10" dirty="0">
              <a:cs typeface="Source Sans Pro Light"/>
            </a:endParaRPr>
          </a:p>
          <a:p>
            <a:pPr marL="469900" indent="-457200">
              <a:spcBef>
                <a:spcPts val="100"/>
              </a:spcBef>
              <a:buFont typeface="Wingdings" panose="05000000000000000000" pitchFamily="2" charset="2"/>
              <a:buChar char="v"/>
            </a:pPr>
            <a:endParaRPr lang="en-US" sz="2800" spc="-10" dirty="0">
              <a:cs typeface="Source Sans Pro Light"/>
            </a:endParaRPr>
          </a:p>
          <a:p>
            <a:pPr marL="12700">
              <a:spcBef>
                <a:spcPts val="100"/>
              </a:spcBef>
            </a:pPr>
            <a:endParaRPr lang="en-US" sz="2800" spc="-10" dirty="0">
              <a:cs typeface="Source Sans Pro Light"/>
            </a:endParaRPr>
          </a:p>
          <a:p>
            <a:pPr marL="12700">
              <a:spcBef>
                <a:spcPts val="100"/>
              </a:spcBef>
            </a:pPr>
            <a:endParaRPr lang="en-US" sz="2800" dirty="0">
              <a:cs typeface="Source Sans Pro Light"/>
            </a:endParaRPr>
          </a:p>
        </p:txBody>
      </p:sp>
      <p:sp>
        <p:nvSpPr>
          <p:cNvPr id="33" name="object 22">
            <a:extLst>
              <a:ext uri="{FF2B5EF4-FFF2-40B4-BE49-F238E27FC236}">
                <a16:creationId xmlns:a16="http://schemas.microsoft.com/office/drawing/2014/main" id="{390A804B-590A-9740-6CE0-11DD3FB26F8E}"/>
              </a:ext>
            </a:extLst>
          </p:cNvPr>
          <p:cNvSpPr txBox="1"/>
          <p:nvPr/>
        </p:nvSpPr>
        <p:spPr>
          <a:xfrm>
            <a:off x="12703859" y="526814"/>
            <a:ext cx="4806156" cy="2662267"/>
          </a:xfrm>
          <a:prstGeom prst="rect">
            <a:avLst/>
          </a:prstGeom>
        </p:spPr>
        <p:txBody>
          <a:bodyPr vert="horz" wrap="square" lIns="0" tIns="12700" rIns="0" bIns="0" rtlCol="0">
            <a:spAutoFit/>
          </a:bodyPr>
          <a:lstStyle/>
          <a:p>
            <a:pPr marL="12700">
              <a:spcBef>
                <a:spcPts val="100"/>
              </a:spcBef>
            </a:pPr>
            <a:r>
              <a:rPr lang="en-US" sz="2800" spc="-10" dirty="0">
                <a:cs typeface="Source Sans Pro Light"/>
              </a:rPr>
              <a:t> </a:t>
            </a:r>
            <a:r>
              <a:rPr lang="en-US" sz="2800" b="1" u="sng" spc="-10" dirty="0">
                <a:cs typeface="Source Sans Pro Light"/>
              </a:rPr>
              <a:t>DATABASE EXPLORED</a:t>
            </a:r>
          </a:p>
          <a:p>
            <a:pPr marL="469900" indent="-457200">
              <a:spcBef>
                <a:spcPts val="100"/>
              </a:spcBef>
              <a:buFont typeface="Wingdings" panose="05000000000000000000" pitchFamily="2" charset="2"/>
              <a:buChar char="ü"/>
            </a:pPr>
            <a:r>
              <a:rPr lang="en-US" sz="2800" spc="-10" dirty="0">
                <a:cs typeface="Source Sans Pro Light"/>
              </a:rPr>
              <a:t>PubMed</a:t>
            </a:r>
          </a:p>
          <a:p>
            <a:pPr marL="469900" indent="-457200">
              <a:spcBef>
                <a:spcPts val="100"/>
              </a:spcBef>
              <a:buFont typeface="Wingdings" panose="05000000000000000000" pitchFamily="2" charset="2"/>
              <a:buChar char="ü"/>
            </a:pPr>
            <a:r>
              <a:rPr lang="en-US" sz="2800" spc="-10" dirty="0">
                <a:cs typeface="Source Sans Pro Light"/>
              </a:rPr>
              <a:t>Cochrane Library</a:t>
            </a:r>
          </a:p>
          <a:p>
            <a:pPr marL="469900" indent="-457200">
              <a:spcBef>
                <a:spcPts val="100"/>
              </a:spcBef>
              <a:buFont typeface="Wingdings" panose="05000000000000000000" pitchFamily="2" charset="2"/>
              <a:buChar char="ü"/>
            </a:pPr>
            <a:r>
              <a:rPr lang="en-US" sz="2800" spc="-10" dirty="0">
                <a:cs typeface="Source Sans Pro Light"/>
              </a:rPr>
              <a:t>Scopus</a:t>
            </a:r>
          </a:p>
          <a:p>
            <a:pPr marL="469900" indent="-457200">
              <a:spcBef>
                <a:spcPts val="100"/>
              </a:spcBef>
              <a:buFont typeface="Wingdings" panose="05000000000000000000" pitchFamily="2" charset="2"/>
              <a:buChar char="ü"/>
            </a:pPr>
            <a:r>
              <a:rPr lang="en-US" sz="2800" spc="-10" dirty="0">
                <a:cs typeface="Source Sans Pro Light"/>
              </a:rPr>
              <a:t>Web of Science</a:t>
            </a:r>
          </a:p>
          <a:p>
            <a:pPr marL="469900" indent="-457200">
              <a:spcBef>
                <a:spcPts val="100"/>
              </a:spcBef>
              <a:buFont typeface="Wingdings" panose="05000000000000000000" pitchFamily="2" charset="2"/>
              <a:buChar char="ü"/>
            </a:pPr>
            <a:r>
              <a:rPr lang="en-US" sz="2800" spc="-10" dirty="0">
                <a:cs typeface="Source Sans Pro Light"/>
              </a:rPr>
              <a:t>CINAHL </a:t>
            </a:r>
            <a:endParaRPr lang="en-US" sz="2800" dirty="0">
              <a:cs typeface="Source Sans Pro Light"/>
            </a:endParaRPr>
          </a:p>
        </p:txBody>
      </p:sp>
      <p:sp>
        <p:nvSpPr>
          <p:cNvPr id="34" name="object 22">
            <a:extLst>
              <a:ext uri="{FF2B5EF4-FFF2-40B4-BE49-F238E27FC236}">
                <a16:creationId xmlns:a16="http://schemas.microsoft.com/office/drawing/2014/main" id="{4E72BD46-F581-21C0-92FF-C0AE2A30A91A}"/>
              </a:ext>
            </a:extLst>
          </p:cNvPr>
          <p:cNvSpPr txBox="1"/>
          <p:nvPr/>
        </p:nvSpPr>
        <p:spPr>
          <a:xfrm>
            <a:off x="69437" y="1489062"/>
            <a:ext cx="4806156" cy="443711"/>
          </a:xfrm>
          <a:prstGeom prst="rect">
            <a:avLst/>
          </a:prstGeom>
        </p:spPr>
        <p:txBody>
          <a:bodyPr vert="horz" wrap="square" lIns="0" tIns="12700" rIns="0" bIns="0" rtlCol="0">
            <a:spAutoFit/>
          </a:bodyPr>
          <a:lstStyle/>
          <a:p>
            <a:pPr marL="12700">
              <a:spcBef>
                <a:spcPts val="100"/>
              </a:spcBef>
            </a:pPr>
            <a:r>
              <a:rPr lang="en-US" sz="2800" b="1" u="sng" spc="-10" dirty="0">
                <a:cs typeface="Source Sans Pro Light"/>
              </a:rPr>
              <a:t>RESEARCH DESIGN</a:t>
            </a:r>
            <a:endParaRPr lang="en-US" sz="2800" b="1" u="sng" dirty="0">
              <a:cs typeface="Source Sans Pro Light"/>
            </a:endParaRPr>
          </a:p>
        </p:txBody>
      </p:sp>
      <p:sp>
        <p:nvSpPr>
          <p:cNvPr id="38" name="object 22">
            <a:extLst>
              <a:ext uri="{FF2B5EF4-FFF2-40B4-BE49-F238E27FC236}">
                <a16:creationId xmlns:a16="http://schemas.microsoft.com/office/drawing/2014/main" id="{77525F4F-0B20-102E-E070-BBE9841ABA2E}"/>
              </a:ext>
            </a:extLst>
          </p:cNvPr>
          <p:cNvSpPr txBox="1"/>
          <p:nvPr/>
        </p:nvSpPr>
        <p:spPr>
          <a:xfrm>
            <a:off x="12564211" y="3358451"/>
            <a:ext cx="6000966" cy="6158096"/>
          </a:xfrm>
          <a:prstGeom prst="rect">
            <a:avLst/>
          </a:prstGeom>
        </p:spPr>
        <p:txBody>
          <a:bodyPr vert="horz" wrap="square" lIns="0" tIns="12700" rIns="0" bIns="0" rtlCol="0">
            <a:spAutoFit/>
          </a:bodyPr>
          <a:lstStyle/>
          <a:p>
            <a:pPr marL="12700">
              <a:spcBef>
                <a:spcPts val="100"/>
              </a:spcBef>
            </a:pPr>
            <a:r>
              <a:rPr lang="en-US" sz="3600" b="1" u="sng" spc="-10" dirty="0">
                <a:cs typeface="Source Sans Pro Light"/>
              </a:rPr>
              <a:t>Analysis methods </a:t>
            </a:r>
          </a:p>
          <a:p>
            <a:pPr marL="584200" indent="-571500">
              <a:spcBef>
                <a:spcPts val="100"/>
              </a:spcBef>
              <a:buFont typeface="Wingdings" panose="05000000000000000000" pitchFamily="2" charset="2"/>
              <a:buChar char="q"/>
            </a:pPr>
            <a:r>
              <a:rPr lang="en-US" sz="3600" spc="-10" dirty="0">
                <a:cs typeface="Source Sans Pro Light"/>
              </a:rPr>
              <a:t>Thematic analysis for the qualitative data</a:t>
            </a:r>
          </a:p>
          <a:p>
            <a:pPr marL="584200" indent="-571500">
              <a:spcBef>
                <a:spcPts val="100"/>
              </a:spcBef>
              <a:buFont typeface="Wingdings" panose="05000000000000000000" pitchFamily="2" charset="2"/>
              <a:buChar char="q"/>
            </a:pPr>
            <a:r>
              <a:rPr lang="en-US" sz="3600" spc="-10" dirty="0">
                <a:cs typeface="Source Sans Pro Light"/>
              </a:rPr>
              <a:t>Convergent translation of quantitative data.</a:t>
            </a:r>
          </a:p>
          <a:p>
            <a:pPr marL="584200" indent="-571500">
              <a:spcBef>
                <a:spcPts val="100"/>
              </a:spcBef>
              <a:buFont typeface="Wingdings" panose="05000000000000000000" pitchFamily="2" charset="2"/>
              <a:buChar char="q"/>
            </a:pPr>
            <a:r>
              <a:rPr lang="en-US" sz="3600" spc="-10" dirty="0">
                <a:cs typeface="Source Sans Pro Light"/>
              </a:rPr>
              <a:t>Triangulation for verification with qualitative insights</a:t>
            </a:r>
          </a:p>
          <a:p>
            <a:pPr marL="584200" indent="-571500">
              <a:spcBef>
                <a:spcPts val="100"/>
              </a:spcBef>
              <a:buFont typeface="Wingdings" panose="05000000000000000000" pitchFamily="2" charset="2"/>
              <a:buChar char="q"/>
            </a:pPr>
            <a:r>
              <a:rPr lang="en-US" sz="3600" spc="-10" dirty="0">
                <a:cs typeface="Source Sans Pro Light"/>
              </a:rPr>
              <a:t>Numerical codes systematic assignment to Likert scale (yes=1, 0=no, male=1, female=2, others=3)</a:t>
            </a:r>
          </a:p>
        </p:txBody>
      </p:sp>
      <p:sp>
        <p:nvSpPr>
          <p:cNvPr id="39" name="object 10">
            <a:extLst>
              <a:ext uri="{FF2B5EF4-FFF2-40B4-BE49-F238E27FC236}">
                <a16:creationId xmlns:a16="http://schemas.microsoft.com/office/drawing/2014/main" id="{63C74D04-8758-920B-BAD9-24B335C7DC05}"/>
              </a:ext>
            </a:extLst>
          </p:cNvPr>
          <p:cNvSpPr txBox="1"/>
          <p:nvPr/>
        </p:nvSpPr>
        <p:spPr>
          <a:xfrm>
            <a:off x="222675" y="2071544"/>
            <a:ext cx="5661696" cy="559127"/>
          </a:xfrm>
          <a:prstGeom prst="rect">
            <a:avLst/>
          </a:prstGeom>
        </p:spPr>
        <p:txBody>
          <a:bodyPr vert="horz" wrap="square" lIns="0" tIns="5080" rIns="0" bIns="0" rtlCol="0">
            <a:spAutoFit/>
          </a:bodyPr>
          <a:lstStyle/>
          <a:p>
            <a:pPr marL="469900" marR="5080" indent="-457200" algn="just">
              <a:lnSpc>
                <a:spcPct val="100000"/>
              </a:lnSpc>
              <a:spcBef>
                <a:spcPts val="100"/>
              </a:spcBef>
              <a:buFont typeface="Wingdings" panose="05000000000000000000" pitchFamily="2" charset="2"/>
              <a:buChar char="ü"/>
            </a:pPr>
            <a:r>
              <a:rPr lang="en-US" sz="3600" dirty="0"/>
              <a:t>Systematic Review Study </a:t>
            </a:r>
          </a:p>
        </p:txBody>
      </p:sp>
      <p:sp>
        <p:nvSpPr>
          <p:cNvPr id="47" name="Footer Placeholder 46">
            <a:extLst>
              <a:ext uri="{FF2B5EF4-FFF2-40B4-BE49-F238E27FC236}">
                <a16:creationId xmlns:a16="http://schemas.microsoft.com/office/drawing/2014/main" id="{D826FFC0-BFE7-99A9-18DC-66E9F848A39A}"/>
              </a:ext>
            </a:extLst>
          </p:cNvPr>
          <p:cNvSpPr>
            <a:spLocks noGrp="1"/>
          </p:cNvSpPr>
          <p:nvPr>
            <p:ph type="ftr" sz="quarter" idx="11"/>
          </p:nvPr>
        </p:nvSpPr>
        <p:spPr/>
        <p:txBody>
          <a:bodyPr/>
          <a:lstStyle/>
          <a:p>
            <a:r>
              <a:rPr lang="en-US"/>
              <a:t>NARS Exploring Research in Nursing </a:t>
            </a:r>
            <a:endParaRPr lang="cs-CZ"/>
          </a:p>
        </p:txBody>
      </p:sp>
      <p:sp>
        <p:nvSpPr>
          <p:cNvPr id="48" name="Slide Number Placeholder 47">
            <a:extLst>
              <a:ext uri="{FF2B5EF4-FFF2-40B4-BE49-F238E27FC236}">
                <a16:creationId xmlns:a16="http://schemas.microsoft.com/office/drawing/2014/main" id="{A317A838-0073-6838-D328-6F5840749AA0}"/>
              </a:ext>
            </a:extLst>
          </p:cNvPr>
          <p:cNvSpPr>
            <a:spLocks noGrp="1"/>
          </p:cNvSpPr>
          <p:nvPr>
            <p:ph type="sldNum" sz="quarter" idx="12"/>
          </p:nvPr>
        </p:nvSpPr>
        <p:spPr/>
        <p:txBody>
          <a:bodyPr/>
          <a:lstStyle/>
          <a:p>
            <a:fld id="{B6F15528-21DE-4FAA-801E-634DDDAF4B2B}" type="slidenum">
              <a:rPr lang="cs-CZ" smtClean="0"/>
              <a:t>5</a:t>
            </a:fld>
            <a:endParaRPr lang="cs-CZ"/>
          </a:p>
        </p:txBody>
      </p:sp>
      <p:sp>
        <p:nvSpPr>
          <p:cNvPr id="5" name="Arrow: Down 4">
            <a:extLst>
              <a:ext uri="{FF2B5EF4-FFF2-40B4-BE49-F238E27FC236}">
                <a16:creationId xmlns:a16="http://schemas.microsoft.com/office/drawing/2014/main" id="{32A5081E-B41B-76FF-CF73-DB44E9E94845}"/>
              </a:ext>
            </a:extLst>
          </p:cNvPr>
          <p:cNvSpPr/>
          <p:nvPr/>
        </p:nvSpPr>
        <p:spPr>
          <a:xfrm>
            <a:off x="12025435" y="505067"/>
            <a:ext cx="538775" cy="9975456"/>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E9DC037C-C731-4D52-835A-5765F8A4FBF2}"/>
              </a:ext>
            </a:extLst>
          </p:cNvPr>
          <p:cNvGrpSpPr/>
          <p:nvPr/>
        </p:nvGrpSpPr>
        <p:grpSpPr>
          <a:xfrm>
            <a:off x="271588" y="212877"/>
            <a:ext cx="14994208" cy="733012"/>
            <a:chOff x="-776065" y="8642689"/>
            <a:chExt cx="4837090" cy="439424"/>
          </a:xfrm>
        </p:grpSpPr>
        <p:sp>
          <p:nvSpPr>
            <p:cNvPr id="24" name="object 4">
              <a:extLst>
                <a:ext uri="{FF2B5EF4-FFF2-40B4-BE49-F238E27FC236}">
                  <a16:creationId xmlns:a16="http://schemas.microsoft.com/office/drawing/2014/main" id="{FAC1F606-62F6-4305-800B-EF4BDCC04BC6}"/>
                </a:ext>
              </a:extLst>
            </p:cNvPr>
            <p:cNvSpPr/>
            <p:nvPr/>
          </p:nvSpPr>
          <p:spPr>
            <a:xfrm>
              <a:off x="-776065" y="8642693"/>
              <a:ext cx="4620991" cy="43942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p:spPr>
          <p:txBody>
            <a:bodyPr wrap="square" lIns="0" tIns="0" rIns="0" bIns="0" rtlCol="0"/>
            <a:lstStyle/>
            <a:p>
              <a:endParaRPr lang="en-US"/>
            </a:p>
          </p:txBody>
        </p:sp>
        <p:sp>
          <p:nvSpPr>
            <p:cNvPr id="25" name="object 5">
              <a:extLst>
                <a:ext uri="{FF2B5EF4-FFF2-40B4-BE49-F238E27FC236}">
                  <a16:creationId xmlns:a16="http://schemas.microsoft.com/office/drawing/2014/main" id="{DE9D9B32-EA9E-452A-AFED-2BFD37C8107A}"/>
                </a:ext>
              </a:extLst>
            </p:cNvPr>
            <p:cNvSpPr/>
            <p:nvPr/>
          </p:nvSpPr>
          <p:spPr>
            <a:xfrm>
              <a:off x="3621605" y="8642689"/>
              <a:ext cx="439420"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lang="en-US"/>
            </a:p>
          </p:txBody>
        </p:sp>
      </p:grpSp>
      <p:sp>
        <p:nvSpPr>
          <p:cNvPr id="11" name="object 9">
            <a:extLst>
              <a:ext uri="{FF2B5EF4-FFF2-40B4-BE49-F238E27FC236}">
                <a16:creationId xmlns:a16="http://schemas.microsoft.com/office/drawing/2014/main" id="{0A39365D-A6B5-4623-AC67-FBE1BB6FC527}"/>
              </a:ext>
            </a:extLst>
          </p:cNvPr>
          <p:cNvSpPr txBox="1"/>
          <p:nvPr/>
        </p:nvSpPr>
        <p:spPr>
          <a:xfrm>
            <a:off x="307432" y="379060"/>
            <a:ext cx="16326515" cy="566822"/>
          </a:xfrm>
          <a:prstGeom prst="rect">
            <a:avLst/>
          </a:prstGeom>
        </p:spPr>
        <p:txBody>
          <a:bodyPr vert="horz" wrap="square" lIns="0" tIns="12700" rIns="0" bIns="0" rtlCol="0">
            <a:spAutoFit/>
          </a:bodyPr>
          <a:lstStyle/>
          <a:p>
            <a:pPr>
              <a:spcBef>
                <a:spcPts val="100"/>
              </a:spcBef>
            </a:pPr>
            <a:r>
              <a:rPr lang="en-US" sz="3600" b="1" dirty="0"/>
              <a:t>RESULTS/FINDINGS (The New Conceptual Framework Developed in this study </a:t>
            </a:r>
          </a:p>
        </p:txBody>
      </p:sp>
      <p:sp>
        <p:nvSpPr>
          <p:cNvPr id="12" name="object 10">
            <a:extLst>
              <a:ext uri="{FF2B5EF4-FFF2-40B4-BE49-F238E27FC236}">
                <a16:creationId xmlns:a16="http://schemas.microsoft.com/office/drawing/2014/main" id="{4B00ADBE-6249-46EB-B9DA-3742A4C1861C}"/>
              </a:ext>
            </a:extLst>
          </p:cNvPr>
          <p:cNvSpPr txBox="1"/>
          <p:nvPr/>
        </p:nvSpPr>
        <p:spPr>
          <a:xfrm>
            <a:off x="11098512" y="1148141"/>
            <a:ext cx="7640214" cy="497572"/>
          </a:xfrm>
          <a:prstGeom prst="rect">
            <a:avLst/>
          </a:prstGeom>
        </p:spPr>
        <p:txBody>
          <a:bodyPr vert="horz" wrap="square" lIns="0" tIns="5080" rIns="0" bIns="0" rtlCol="0">
            <a:spAutoFit/>
          </a:bodyPr>
          <a:lstStyle/>
          <a:p>
            <a:pPr marL="12700" marR="5080" algn="just">
              <a:spcBef>
                <a:spcPts val="100"/>
              </a:spcBef>
            </a:pPr>
            <a:r>
              <a:rPr lang="en-US" sz="3200" b="1" u="sng" spc="-15" dirty="0">
                <a:cs typeface="Source Sans Pro"/>
              </a:rPr>
              <a:t>Hierarchy OF BARRIERS &amp;FACILITATORS</a:t>
            </a:r>
          </a:p>
        </p:txBody>
      </p:sp>
      <p:sp>
        <p:nvSpPr>
          <p:cNvPr id="7" name="Footer Placeholder 6">
            <a:extLst>
              <a:ext uri="{FF2B5EF4-FFF2-40B4-BE49-F238E27FC236}">
                <a16:creationId xmlns:a16="http://schemas.microsoft.com/office/drawing/2014/main" id="{DF6F8C4E-A94A-5A8E-9787-B1867FFF5BEC}"/>
              </a:ext>
            </a:extLst>
          </p:cNvPr>
          <p:cNvSpPr>
            <a:spLocks noGrp="1"/>
          </p:cNvSpPr>
          <p:nvPr>
            <p:ph type="ftr" sz="quarter" idx="11"/>
          </p:nvPr>
        </p:nvSpPr>
        <p:spPr/>
        <p:txBody>
          <a:bodyPr/>
          <a:lstStyle/>
          <a:p>
            <a:r>
              <a:rPr lang="en-US"/>
              <a:t>NARS Exploring Research in Nursing </a:t>
            </a:r>
            <a:endParaRPr lang="cs-CZ"/>
          </a:p>
        </p:txBody>
      </p:sp>
      <p:sp>
        <p:nvSpPr>
          <p:cNvPr id="8" name="Slide Number Placeholder 7">
            <a:extLst>
              <a:ext uri="{FF2B5EF4-FFF2-40B4-BE49-F238E27FC236}">
                <a16:creationId xmlns:a16="http://schemas.microsoft.com/office/drawing/2014/main" id="{317FEAD5-7923-9A4D-75CE-AB05AD417D8B}"/>
              </a:ext>
            </a:extLst>
          </p:cNvPr>
          <p:cNvSpPr>
            <a:spLocks noGrp="1"/>
          </p:cNvSpPr>
          <p:nvPr>
            <p:ph type="sldNum" sz="quarter" idx="12"/>
          </p:nvPr>
        </p:nvSpPr>
        <p:spPr/>
        <p:txBody>
          <a:bodyPr/>
          <a:lstStyle/>
          <a:p>
            <a:fld id="{B6F15528-21DE-4FAA-801E-634DDDAF4B2B}" type="slidenum">
              <a:rPr lang="cs-CZ" smtClean="0"/>
              <a:t>6</a:t>
            </a:fld>
            <a:endParaRPr lang="cs-CZ"/>
          </a:p>
        </p:txBody>
      </p:sp>
      <p:graphicFrame>
        <p:nvGraphicFramePr>
          <p:cNvPr id="2" name="Table 1">
            <a:extLst>
              <a:ext uri="{FF2B5EF4-FFF2-40B4-BE49-F238E27FC236}">
                <a16:creationId xmlns:a16="http://schemas.microsoft.com/office/drawing/2014/main" id="{5A2DCD39-7C35-62A0-6281-9EDCC5D5E3F3}"/>
              </a:ext>
            </a:extLst>
          </p:cNvPr>
          <p:cNvGraphicFramePr>
            <a:graphicFrameLocks noGrp="1"/>
          </p:cNvGraphicFramePr>
          <p:nvPr>
            <p:extLst>
              <p:ext uri="{D42A27DB-BD31-4B8C-83A1-F6EECF244321}">
                <p14:modId xmlns:p14="http://schemas.microsoft.com/office/powerpoint/2010/main" val="444351095"/>
              </p:ext>
            </p:extLst>
          </p:nvPr>
        </p:nvGraphicFramePr>
        <p:xfrm>
          <a:off x="271587" y="1314252"/>
          <a:ext cx="10313690" cy="9159529"/>
        </p:xfrm>
        <a:graphic>
          <a:graphicData uri="http://schemas.openxmlformats.org/drawingml/2006/table">
            <a:tbl>
              <a:tblPr firstRow="1" bandRow="1">
                <a:tableStyleId>{5C22544A-7EE6-4342-B048-85BDC9FD1C3A}</a:tableStyleId>
              </a:tblPr>
              <a:tblGrid>
                <a:gridCol w="5156845">
                  <a:extLst>
                    <a:ext uri="{9D8B030D-6E8A-4147-A177-3AD203B41FA5}">
                      <a16:colId xmlns:a16="http://schemas.microsoft.com/office/drawing/2014/main" val="153990740"/>
                    </a:ext>
                  </a:extLst>
                </a:gridCol>
                <a:gridCol w="5156845">
                  <a:extLst>
                    <a:ext uri="{9D8B030D-6E8A-4147-A177-3AD203B41FA5}">
                      <a16:colId xmlns:a16="http://schemas.microsoft.com/office/drawing/2014/main" val="3105025975"/>
                    </a:ext>
                  </a:extLst>
                </a:gridCol>
              </a:tblGrid>
              <a:tr h="550251">
                <a:tc gridSpan="2">
                  <a:txBody>
                    <a:bodyPr/>
                    <a:lstStyle/>
                    <a:p>
                      <a:pPr algn="ctr"/>
                      <a:r>
                        <a:rPr lang="en-US" b="1" dirty="0">
                          <a:solidFill>
                            <a:schemeClr val="tx1"/>
                          </a:solidFill>
                        </a:rPr>
                        <a:t>THEMES DEVELOPED</a:t>
                      </a:r>
                      <a:endParaRPr lang="en-GB" b="1" dirty="0">
                        <a:solidFill>
                          <a:schemeClr val="tx1"/>
                        </a:solidFill>
                      </a:endParaRPr>
                    </a:p>
                  </a:txBody>
                  <a:tcPr/>
                </a:tc>
                <a:tc hMerge="1">
                  <a:txBody>
                    <a:bodyPr/>
                    <a:lstStyle/>
                    <a:p>
                      <a:endParaRPr lang="en-GB" dirty="0"/>
                    </a:p>
                  </a:txBody>
                  <a:tcPr/>
                </a:tc>
                <a:extLst>
                  <a:ext uri="{0D108BD9-81ED-4DB2-BD59-A6C34878D82A}">
                    <a16:rowId xmlns:a16="http://schemas.microsoft.com/office/drawing/2014/main" val="3897901640"/>
                  </a:ext>
                </a:extLst>
              </a:tr>
              <a:tr h="550251">
                <a:tc>
                  <a:txBody>
                    <a:bodyPr/>
                    <a:lstStyle/>
                    <a:p>
                      <a:r>
                        <a:rPr lang="en-US" dirty="0"/>
                        <a:t>Major Themes</a:t>
                      </a:r>
                      <a:endParaRPr lang="en-GB" dirty="0"/>
                    </a:p>
                  </a:txBody>
                  <a:tcPr/>
                </a:tc>
                <a:tc>
                  <a:txBody>
                    <a:bodyPr/>
                    <a:lstStyle/>
                    <a:p>
                      <a:r>
                        <a:rPr lang="en-US" dirty="0"/>
                        <a:t>Sub-Themes</a:t>
                      </a:r>
                      <a:endParaRPr lang="en-GB" dirty="0"/>
                    </a:p>
                  </a:txBody>
                  <a:tcPr/>
                </a:tc>
                <a:extLst>
                  <a:ext uri="{0D108BD9-81ED-4DB2-BD59-A6C34878D82A}">
                    <a16:rowId xmlns:a16="http://schemas.microsoft.com/office/drawing/2014/main" val="1823644301"/>
                  </a:ext>
                </a:extLst>
              </a:tr>
              <a:tr h="550251">
                <a:tc rowSpan="4">
                  <a:txBody>
                    <a:bodyPr/>
                    <a:lstStyle/>
                    <a:p>
                      <a:r>
                        <a:rPr lang="en-US" dirty="0"/>
                        <a:t>INDIVIDUAL BARRIERS &amp; FACILITATORS</a:t>
                      </a:r>
                      <a:endParaRPr lang="en-GB" dirty="0"/>
                    </a:p>
                  </a:txBody>
                  <a:tcPr/>
                </a:tc>
                <a:tc>
                  <a:txBody>
                    <a:bodyPr/>
                    <a:lstStyle/>
                    <a:p>
                      <a:r>
                        <a:rPr lang="en-US" dirty="0"/>
                        <a:t>1)Perceived usefulness</a:t>
                      </a:r>
                    </a:p>
                  </a:txBody>
                  <a:tcPr/>
                </a:tc>
                <a:extLst>
                  <a:ext uri="{0D108BD9-81ED-4DB2-BD59-A6C34878D82A}">
                    <a16:rowId xmlns:a16="http://schemas.microsoft.com/office/drawing/2014/main" val="3727180753"/>
                  </a:ext>
                </a:extLst>
              </a:tr>
              <a:tr h="550251">
                <a:tc vMerge="1">
                  <a:txBody>
                    <a:bodyPr/>
                    <a:lstStyle/>
                    <a:p>
                      <a:endParaRPr lang="en-GB" dirty="0"/>
                    </a:p>
                  </a:txBody>
                  <a:tcPr/>
                </a:tc>
                <a:tc>
                  <a:txBody>
                    <a:bodyPr/>
                    <a:lstStyle/>
                    <a:p>
                      <a:r>
                        <a:rPr lang="en-US" dirty="0"/>
                        <a:t>2)Perceived ease of use</a:t>
                      </a:r>
                      <a:endParaRPr lang="en-GB" dirty="0"/>
                    </a:p>
                  </a:txBody>
                  <a:tcPr/>
                </a:tc>
                <a:extLst>
                  <a:ext uri="{0D108BD9-81ED-4DB2-BD59-A6C34878D82A}">
                    <a16:rowId xmlns:a16="http://schemas.microsoft.com/office/drawing/2014/main" val="3160590764"/>
                  </a:ext>
                </a:extLst>
              </a:tr>
              <a:tr h="550251">
                <a:tc vMerge="1">
                  <a:txBody>
                    <a:bodyPr/>
                    <a:lstStyle/>
                    <a:p>
                      <a:endParaRPr lang="en-GB" dirty="0"/>
                    </a:p>
                  </a:txBody>
                  <a:tcPr/>
                </a:tc>
                <a:tc>
                  <a:txBody>
                    <a:bodyPr/>
                    <a:lstStyle/>
                    <a:p>
                      <a:r>
                        <a:rPr lang="en-US" dirty="0"/>
                        <a:t>3)Psychological Readiness</a:t>
                      </a:r>
                      <a:endParaRPr lang="en-GB" dirty="0"/>
                    </a:p>
                  </a:txBody>
                  <a:tcPr/>
                </a:tc>
                <a:extLst>
                  <a:ext uri="{0D108BD9-81ED-4DB2-BD59-A6C34878D82A}">
                    <a16:rowId xmlns:a16="http://schemas.microsoft.com/office/drawing/2014/main" val="1046758018"/>
                  </a:ext>
                </a:extLst>
              </a:tr>
              <a:tr h="570982">
                <a:tc vMerge="1">
                  <a:txBody>
                    <a:bodyPr/>
                    <a:lstStyle/>
                    <a:p>
                      <a:endParaRPr lang="en-GB" dirty="0"/>
                    </a:p>
                  </a:txBody>
                  <a:tcPr/>
                </a:tc>
                <a:tc>
                  <a:txBody>
                    <a:bodyPr/>
                    <a:lstStyle/>
                    <a:p>
                      <a:r>
                        <a:rPr lang="en-US" dirty="0"/>
                        <a:t>4)User motivation &amp; Attitude</a:t>
                      </a:r>
                      <a:endParaRPr lang="en-GB" dirty="0"/>
                    </a:p>
                  </a:txBody>
                  <a:tcPr/>
                </a:tc>
                <a:extLst>
                  <a:ext uri="{0D108BD9-81ED-4DB2-BD59-A6C34878D82A}">
                    <a16:rowId xmlns:a16="http://schemas.microsoft.com/office/drawing/2014/main" val="4233885690"/>
                  </a:ext>
                </a:extLst>
              </a:tr>
              <a:tr h="550251">
                <a:tc>
                  <a:txBody>
                    <a:bodyPr/>
                    <a:lstStyle/>
                    <a:p>
                      <a:endParaRPr lang="en-GB" dirty="0"/>
                    </a:p>
                  </a:txBody>
                  <a:tcPr/>
                </a:tc>
                <a:tc>
                  <a:txBody>
                    <a:bodyPr/>
                    <a:lstStyle/>
                    <a:p>
                      <a:endParaRPr lang="en-GB"/>
                    </a:p>
                  </a:txBody>
                  <a:tcPr/>
                </a:tc>
                <a:extLst>
                  <a:ext uri="{0D108BD9-81ED-4DB2-BD59-A6C34878D82A}">
                    <a16:rowId xmlns:a16="http://schemas.microsoft.com/office/drawing/2014/main" val="3596738647"/>
                  </a:ext>
                </a:extLst>
              </a:tr>
              <a:tr h="550251">
                <a:tc rowSpan="3">
                  <a:txBody>
                    <a:bodyPr/>
                    <a:lstStyle/>
                    <a:p>
                      <a:r>
                        <a:rPr lang="en-US" dirty="0"/>
                        <a:t>TECHNOLOGICAL BARRIERS AND FACILITATORS</a:t>
                      </a:r>
                      <a:endParaRPr lang="en-GB" dirty="0"/>
                    </a:p>
                  </a:txBody>
                  <a:tcPr/>
                </a:tc>
                <a:tc>
                  <a:txBody>
                    <a:bodyPr/>
                    <a:lstStyle/>
                    <a:p>
                      <a:r>
                        <a:rPr lang="en-US" dirty="0"/>
                        <a:t>1)Digital Literacy &amp; Competence</a:t>
                      </a:r>
                      <a:endParaRPr lang="en-GB" dirty="0"/>
                    </a:p>
                  </a:txBody>
                  <a:tcPr/>
                </a:tc>
                <a:extLst>
                  <a:ext uri="{0D108BD9-81ED-4DB2-BD59-A6C34878D82A}">
                    <a16:rowId xmlns:a16="http://schemas.microsoft.com/office/drawing/2014/main" val="4246466541"/>
                  </a:ext>
                </a:extLst>
              </a:tr>
              <a:tr h="550251">
                <a:tc vMerge="1">
                  <a:txBody>
                    <a:bodyPr/>
                    <a:lstStyle/>
                    <a:p>
                      <a:endParaRPr lang="en-GB" dirty="0"/>
                    </a:p>
                  </a:txBody>
                  <a:tcPr/>
                </a:tc>
                <a:tc>
                  <a:txBody>
                    <a:bodyPr/>
                    <a:lstStyle/>
                    <a:p>
                      <a:r>
                        <a:rPr lang="en-US" dirty="0"/>
                        <a:t>2)Connectivity &amp; Security</a:t>
                      </a:r>
                      <a:endParaRPr lang="en-GB" dirty="0"/>
                    </a:p>
                  </a:txBody>
                  <a:tcPr/>
                </a:tc>
                <a:extLst>
                  <a:ext uri="{0D108BD9-81ED-4DB2-BD59-A6C34878D82A}">
                    <a16:rowId xmlns:a16="http://schemas.microsoft.com/office/drawing/2014/main" val="2609946349"/>
                  </a:ext>
                </a:extLst>
              </a:tr>
              <a:tr h="550251">
                <a:tc vMerge="1">
                  <a:txBody>
                    <a:bodyPr/>
                    <a:lstStyle/>
                    <a:p>
                      <a:endParaRPr lang="en-GB" dirty="0"/>
                    </a:p>
                  </a:txBody>
                  <a:tcPr/>
                </a:tc>
                <a:tc>
                  <a:txBody>
                    <a:bodyPr/>
                    <a:lstStyle/>
                    <a:p>
                      <a:r>
                        <a:rPr lang="en-US" dirty="0"/>
                        <a:t>3)System complexity &amp; Usability</a:t>
                      </a:r>
                      <a:endParaRPr lang="en-GB" dirty="0"/>
                    </a:p>
                  </a:txBody>
                  <a:tcPr/>
                </a:tc>
                <a:extLst>
                  <a:ext uri="{0D108BD9-81ED-4DB2-BD59-A6C34878D82A}">
                    <a16:rowId xmlns:a16="http://schemas.microsoft.com/office/drawing/2014/main" val="3943124084"/>
                  </a:ext>
                </a:extLst>
              </a:tr>
              <a:tr h="550251">
                <a:tc>
                  <a:txBody>
                    <a:bodyPr/>
                    <a:lstStyle/>
                    <a:p>
                      <a:endParaRPr lang="en-GB"/>
                    </a:p>
                  </a:txBody>
                  <a:tcPr/>
                </a:tc>
                <a:tc>
                  <a:txBody>
                    <a:bodyPr/>
                    <a:lstStyle/>
                    <a:p>
                      <a:endParaRPr lang="en-GB"/>
                    </a:p>
                  </a:txBody>
                  <a:tcPr/>
                </a:tc>
                <a:extLst>
                  <a:ext uri="{0D108BD9-81ED-4DB2-BD59-A6C34878D82A}">
                    <a16:rowId xmlns:a16="http://schemas.microsoft.com/office/drawing/2014/main" val="1777916288"/>
                  </a:ext>
                </a:extLst>
              </a:tr>
              <a:tr h="3018905">
                <a:tc>
                  <a:txBody>
                    <a:bodyPr/>
                    <a:lstStyle/>
                    <a:p>
                      <a:r>
                        <a:rPr lang="en-US" dirty="0"/>
                        <a:t>ORGANISATIONAL BARRIERS AND FACILITATORS</a:t>
                      </a:r>
                      <a:endParaRPr lang="en-GB" dirty="0"/>
                    </a:p>
                  </a:txBody>
                  <a:tcPr/>
                </a:tc>
                <a:tc>
                  <a:txBody>
                    <a:bodyPr/>
                    <a:lstStyle/>
                    <a:p>
                      <a:r>
                        <a:rPr lang="en-US" dirty="0"/>
                        <a:t>1)Infrastructures &amp; Accessibility</a:t>
                      </a:r>
                    </a:p>
                    <a:p>
                      <a:r>
                        <a:rPr lang="en-US" dirty="0"/>
                        <a:t>2)Training &amp; Support</a:t>
                      </a:r>
                    </a:p>
                    <a:p>
                      <a:r>
                        <a:rPr lang="en-US" dirty="0"/>
                        <a:t>3)Sustainability</a:t>
                      </a:r>
                    </a:p>
                    <a:p>
                      <a:r>
                        <a:rPr lang="en-US" dirty="0"/>
                        <a:t>4)Organizational policy</a:t>
                      </a:r>
                    </a:p>
                    <a:p>
                      <a:r>
                        <a:rPr lang="en-US" dirty="0"/>
                        <a:t>5)Workload  &amp; Time</a:t>
                      </a:r>
                    </a:p>
                    <a:p>
                      <a:r>
                        <a:rPr lang="en-US" dirty="0"/>
                        <a:t>6)Non-adoption &amp; Spread</a:t>
                      </a:r>
                    </a:p>
                    <a:p>
                      <a:endParaRPr lang="en-GB" dirty="0"/>
                    </a:p>
                  </a:txBody>
                  <a:tcPr/>
                </a:tc>
                <a:extLst>
                  <a:ext uri="{0D108BD9-81ED-4DB2-BD59-A6C34878D82A}">
                    <a16:rowId xmlns:a16="http://schemas.microsoft.com/office/drawing/2014/main" val="4261868932"/>
                  </a:ext>
                </a:extLst>
              </a:tr>
            </a:tbl>
          </a:graphicData>
        </a:graphic>
      </p:graphicFrame>
      <p:sp>
        <p:nvSpPr>
          <p:cNvPr id="15" name="Isosceles Triangle 14">
            <a:extLst>
              <a:ext uri="{FF2B5EF4-FFF2-40B4-BE49-F238E27FC236}">
                <a16:creationId xmlns:a16="http://schemas.microsoft.com/office/drawing/2014/main" id="{23A65493-79E6-EEA0-6CA6-D8EB23C2ACDE}"/>
              </a:ext>
            </a:extLst>
          </p:cNvPr>
          <p:cNvSpPr/>
          <p:nvPr/>
        </p:nvSpPr>
        <p:spPr>
          <a:xfrm>
            <a:off x="10585277" y="1898895"/>
            <a:ext cx="8153449" cy="3830497"/>
          </a:xfrm>
          <a:prstGeom prst="triangle">
            <a:avLst>
              <a:gd name="adj" fmla="val 49294"/>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17" name="TextBox 16">
            <a:extLst>
              <a:ext uri="{FF2B5EF4-FFF2-40B4-BE49-F238E27FC236}">
                <a16:creationId xmlns:a16="http://schemas.microsoft.com/office/drawing/2014/main" id="{B63D4D44-A8A0-B8DD-595F-708531AE3E8F}"/>
              </a:ext>
            </a:extLst>
          </p:cNvPr>
          <p:cNvSpPr txBox="1"/>
          <p:nvPr/>
        </p:nvSpPr>
        <p:spPr>
          <a:xfrm>
            <a:off x="13609613" y="2682404"/>
            <a:ext cx="3168351" cy="3046988"/>
          </a:xfrm>
          <a:prstGeom prst="rect">
            <a:avLst/>
          </a:prstGeom>
          <a:noFill/>
        </p:spPr>
        <p:txBody>
          <a:bodyPr wrap="square" rtlCol="0">
            <a:spAutoFit/>
          </a:bodyPr>
          <a:lstStyle/>
          <a:p>
            <a:r>
              <a:rPr lang="en-US" sz="3200" dirty="0"/>
              <a:t>INDIVIDUAL (100%)</a:t>
            </a:r>
          </a:p>
          <a:p>
            <a:r>
              <a:rPr lang="en-US" sz="3200" dirty="0"/>
              <a:t>ORGANISATIONAL (80%)</a:t>
            </a:r>
          </a:p>
          <a:p>
            <a:r>
              <a:rPr lang="en-US" sz="3200" dirty="0"/>
              <a:t>TECHNOLOGICAL (70%)</a:t>
            </a:r>
            <a:endParaRPr lang="en-GB" sz="3200" dirty="0"/>
          </a:p>
        </p:txBody>
      </p:sp>
      <p:cxnSp>
        <p:nvCxnSpPr>
          <p:cNvPr id="19" name="Straight Arrow Connector 18">
            <a:extLst>
              <a:ext uri="{FF2B5EF4-FFF2-40B4-BE49-F238E27FC236}">
                <a16:creationId xmlns:a16="http://schemas.microsoft.com/office/drawing/2014/main" id="{47190C02-33DB-AE2F-8CBC-FB82FDECF506}"/>
              </a:ext>
            </a:extLst>
          </p:cNvPr>
          <p:cNvCxnSpPr/>
          <p:nvPr/>
        </p:nvCxnSpPr>
        <p:spPr>
          <a:xfrm>
            <a:off x="13105556" y="3690516"/>
            <a:ext cx="316835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2C63295-26E9-C10B-DF88-7E50EC8A0E90}"/>
              </a:ext>
            </a:extLst>
          </p:cNvPr>
          <p:cNvCxnSpPr/>
          <p:nvPr/>
        </p:nvCxnSpPr>
        <p:spPr>
          <a:xfrm>
            <a:off x="11881420" y="4698628"/>
            <a:ext cx="55446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A142D422-9721-DB4C-F167-68FE7C59C1CC}"/>
              </a:ext>
            </a:extLst>
          </p:cNvPr>
          <p:cNvSpPr txBox="1"/>
          <p:nvPr/>
        </p:nvSpPr>
        <p:spPr>
          <a:xfrm>
            <a:off x="11098512" y="6282804"/>
            <a:ext cx="7407644" cy="523220"/>
          </a:xfrm>
          <a:prstGeom prst="rect">
            <a:avLst/>
          </a:prstGeom>
          <a:noFill/>
        </p:spPr>
        <p:txBody>
          <a:bodyPr wrap="square" rtlCol="0">
            <a:spAutoFit/>
          </a:bodyPr>
          <a:lstStyle/>
          <a:p>
            <a:r>
              <a:rPr lang="en-US" sz="2800" b="1" u="sng" dirty="0"/>
              <a:t>RELATIONSHIP OF BARRIERS &amp; FACILITATORS</a:t>
            </a:r>
          </a:p>
        </p:txBody>
      </p:sp>
      <p:graphicFrame>
        <p:nvGraphicFramePr>
          <p:cNvPr id="39" name="Diagram 38">
            <a:extLst>
              <a:ext uri="{FF2B5EF4-FFF2-40B4-BE49-F238E27FC236}">
                <a16:creationId xmlns:a16="http://schemas.microsoft.com/office/drawing/2014/main" id="{E9D3520C-F8D9-DBCC-E18A-A3237E0FE430}"/>
              </a:ext>
            </a:extLst>
          </p:cNvPr>
          <p:cNvGraphicFramePr/>
          <p:nvPr>
            <p:extLst>
              <p:ext uri="{D42A27DB-BD31-4B8C-83A1-F6EECF244321}">
                <p14:modId xmlns:p14="http://schemas.microsoft.com/office/powerpoint/2010/main" val="61264800"/>
              </p:ext>
            </p:extLst>
          </p:nvPr>
        </p:nvGraphicFramePr>
        <p:xfrm>
          <a:off x="11098512" y="7002885"/>
          <a:ext cx="7407644" cy="32397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96656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7FCA7-8DCB-77AF-D80A-54D51F968DA6}"/>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1454A087-6961-145D-B44E-41910F9F734C}"/>
              </a:ext>
            </a:extLst>
          </p:cNvPr>
          <p:cNvGrpSpPr/>
          <p:nvPr/>
        </p:nvGrpSpPr>
        <p:grpSpPr>
          <a:xfrm>
            <a:off x="0" y="668156"/>
            <a:ext cx="7219156" cy="828000"/>
            <a:chOff x="564554" y="8642689"/>
            <a:chExt cx="3496471" cy="439424"/>
          </a:xfrm>
        </p:grpSpPr>
        <p:sp>
          <p:nvSpPr>
            <p:cNvPr id="24" name="object 4">
              <a:extLst>
                <a:ext uri="{FF2B5EF4-FFF2-40B4-BE49-F238E27FC236}">
                  <a16:creationId xmlns:a16="http://schemas.microsoft.com/office/drawing/2014/main" id="{9163D349-F932-5604-D5A5-E1DF394FEFDE}"/>
                </a:ext>
              </a:extLst>
            </p:cNvPr>
            <p:cNvSpPr/>
            <p:nvPr/>
          </p:nvSpPr>
          <p:spPr>
            <a:xfrm>
              <a:off x="564554" y="8642693"/>
              <a:ext cx="3280372" cy="43942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p:spPr>
          <p:txBody>
            <a:bodyPr wrap="square" lIns="0" tIns="0" rIns="0" bIns="0" rtlCol="0"/>
            <a:lstStyle/>
            <a:p>
              <a:endParaRPr lang="en-US"/>
            </a:p>
          </p:txBody>
        </p:sp>
        <p:sp>
          <p:nvSpPr>
            <p:cNvPr id="25" name="object 5">
              <a:extLst>
                <a:ext uri="{FF2B5EF4-FFF2-40B4-BE49-F238E27FC236}">
                  <a16:creationId xmlns:a16="http://schemas.microsoft.com/office/drawing/2014/main" id="{58BF8C09-888E-44F0-91A4-4EBB625A61DF}"/>
                </a:ext>
              </a:extLst>
            </p:cNvPr>
            <p:cNvSpPr/>
            <p:nvPr/>
          </p:nvSpPr>
          <p:spPr>
            <a:xfrm>
              <a:off x="3621605" y="8642689"/>
              <a:ext cx="439420"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lang="en-US"/>
            </a:p>
          </p:txBody>
        </p:sp>
      </p:grpSp>
      <p:sp>
        <p:nvSpPr>
          <p:cNvPr id="11" name="object 9">
            <a:extLst>
              <a:ext uri="{FF2B5EF4-FFF2-40B4-BE49-F238E27FC236}">
                <a16:creationId xmlns:a16="http://schemas.microsoft.com/office/drawing/2014/main" id="{1ECE3740-512E-A2FD-4A6C-AE4B83A807D8}"/>
              </a:ext>
            </a:extLst>
          </p:cNvPr>
          <p:cNvSpPr txBox="1"/>
          <p:nvPr/>
        </p:nvSpPr>
        <p:spPr>
          <a:xfrm>
            <a:off x="665956" y="774700"/>
            <a:ext cx="10439400" cy="566822"/>
          </a:xfrm>
          <a:prstGeom prst="rect">
            <a:avLst/>
          </a:prstGeom>
        </p:spPr>
        <p:txBody>
          <a:bodyPr vert="horz" wrap="square" lIns="0" tIns="12700" rIns="0" bIns="0" rtlCol="0">
            <a:spAutoFit/>
          </a:bodyPr>
          <a:lstStyle/>
          <a:p>
            <a:pPr marL="12700">
              <a:lnSpc>
                <a:spcPct val="100000"/>
              </a:lnSpc>
              <a:spcBef>
                <a:spcPts val="100"/>
              </a:spcBef>
            </a:pPr>
            <a:r>
              <a:rPr lang="en-US" sz="3600" b="1" dirty="0"/>
              <a:t>DISCUSSION</a:t>
            </a:r>
            <a:r>
              <a:rPr lang="en-US" sz="2800" dirty="0">
                <a:cs typeface="Source Sans Pro Light"/>
              </a:rPr>
              <a:t>  </a:t>
            </a:r>
          </a:p>
        </p:txBody>
      </p:sp>
      <p:sp>
        <p:nvSpPr>
          <p:cNvPr id="12" name="object 10">
            <a:extLst>
              <a:ext uri="{FF2B5EF4-FFF2-40B4-BE49-F238E27FC236}">
                <a16:creationId xmlns:a16="http://schemas.microsoft.com/office/drawing/2014/main" id="{7F786B17-F67B-D61B-2840-E34D87AE46C6}"/>
              </a:ext>
            </a:extLst>
          </p:cNvPr>
          <p:cNvSpPr txBox="1"/>
          <p:nvPr/>
        </p:nvSpPr>
        <p:spPr>
          <a:xfrm>
            <a:off x="144116" y="1602684"/>
            <a:ext cx="17145794" cy="9188669"/>
          </a:xfrm>
          <a:prstGeom prst="rect">
            <a:avLst/>
          </a:prstGeom>
        </p:spPr>
        <p:txBody>
          <a:bodyPr vert="horz" wrap="square" lIns="0" tIns="5080" rIns="0" bIns="0" rtlCol="0">
            <a:spAutoFit/>
          </a:bodyPr>
          <a:lstStyle/>
          <a:p>
            <a:pPr marL="469900" marR="5080" indent="-457200" algn="just">
              <a:lnSpc>
                <a:spcPct val="118100"/>
              </a:lnSpc>
              <a:spcBef>
                <a:spcPts val="100"/>
              </a:spcBef>
              <a:buFont typeface="Wingdings" panose="05000000000000000000" pitchFamily="2" charset="2"/>
              <a:buChar char="§"/>
            </a:pPr>
            <a:r>
              <a:rPr lang="en-US" sz="3200" dirty="0"/>
              <a:t>The study, in general, did not present any findings that refute the research question. Findings from all the study articles provided robust support for the research inquiry. The findings align with and support the research findings by identifying major obstacles and enablers. While individual factors reveal prevalent person-related elements, organizational readiness and support dictate the success or failure of information implementation. Furthermore, the influence of systemic and technological inequities, as detailed in these studies, reinforces and substantiates the research question.</a:t>
            </a:r>
          </a:p>
          <a:p>
            <a:pPr marL="469900" marR="5080" indent="-457200" algn="just">
              <a:lnSpc>
                <a:spcPct val="118100"/>
              </a:lnSpc>
              <a:spcBef>
                <a:spcPts val="100"/>
              </a:spcBef>
              <a:buFont typeface="Wingdings" panose="05000000000000000000" pitchFamily="2" charset="2"/>
              <a:buChar char="§"/>
            </a:pPr>
            <a:r>
              <a:rPr lang="en-US" sz="3200" dirty="0"/>
              <a:t>This study result exhibits a robust correlation with the </a:t>
            </a:r>
            <a:r>
              <a:rPr lang="en-US" sz="3200" b="1" dirty="0"/>
              <a:t>Technology Acceptance Model (TAM</a:t>
            </a:r>
            <a:r>
              <a:rPr lang="en-US" sz="3200" dirty="0"/>
              <a:t>) (Davis 1989). This is because adoption was influenced by perceived clinical value, system efficiency, and interface simplicity.</a:t>
            </a:r>
          </a:p>
          <a:p>
            <a:pPr marL="469900" marR="5080" indent="-457200">
              <a:lnSpc>
                <a:spcPct val="118100"/>
              </a:lnSpc>
              <a:spcBef>
                <a:spcPts val="100"/>
              </a:spcBef>
              <a:buFont typeface="Wingdings" panose="05000000000000000000" pitchFamily="2" charset="2"/>
              <a:buChar char="§"/>
            </a:pPr>
            <a:r>
              <a:rPr lang="en-US" sz="3200" dirty="0"/>
              <a:t>Infrastructure readiness, organizational culture, and policy align with the </a:t>
            </a:r>
            <a:r>
              <a:rPr lang="en-US" sz="3200" b="1" dirty="0"/>
              <a:t>NASS (Non-adoption, Abandonment, Scale-up, Spread, and Sustainability) domain </a:t>
            </a:r>
            <a:r>
              <a:rPr lang="en-US" sz="3200" dirty="0"/>
              <a:t>of technology, value proposition, adopters, and the organizations. </a:t>
            </a:r>
          </a:p>
          <a:p>
            <a:pPr marL="469900" marR="5080" indent="-457200" algn="just">
              <a:lnSpc>
                <a:spcPct val="118100"/>
              </a:lnSpc>
              <a:spcBef>
                <a:spcPts val="100"/>
              </a:spcBef>
              <a:buFont typeface="Wingdings" panose="05000000000000000000" pitchFamily="2" charset="2"/>
              <a:buChar char="§"/>
            </a:pPr>
            <a:r>
              <a:rPr lang="en-US" sz="3200" dirty="0"/>
              <a:t> Esteemed health organizations like the WHO, the Commonwealths, and the Ministry of Health, Seychelles, support health informatics.</a:t>
            </a:r>
          </a:p>
          <a:p>
            <a:pPr marL="469900" marR="5080" indent="-457200" algn="just">
              <a:lnSpc>
                <a:spcPct val="118100"/>
              </a:lnSpc>
              <a:spcBef>
                <a:spcPts val="100"/>
              </a:spcBef>
              <a:buFont typeface="Wingdings" panose="05000000000000000000" pitchFamily="2" charset="2"/>
              <a:buChar char="§"/>
            </a:pPr>
            <a:endParaRPr lang="en-US" sz="2800" dirty="0"/>
          </a:p>
          <a:p>
            <a:pPr marL="469900" marR="5080" indent="-457200" algn="just">
              <a:lnSpc>
                <a:spcPct val="118100"/>
              </a:lnSpc>
              <a:spcBef>
                <a:spcPts val="100"/>
              </a:spcBef>
              <a:buFont typeface="Wingdings" panose="05000000000000000000" pitchFamily="2" charset="2"/>
              <a:buChar char="§"/>
            </a:pPr>
            <a:endParaRPr lang="en-US" sz="2800" dirty="0"/>
          </a:p>
        </p:txBody>
      </p:sp>
      <p:sp>
        <p:nvSpPr>
          <p:cNvPr id="21" name="object 10">
            <a:extLst>
              <a:ext uri="{FF2B5EF4-FFF2-40B4-BE49-F238E27FC236}">
                <a16:creationId xmlns:a16="http://schemas.microsoft.com/office/drawing/2014/main" id="{DF4A40CF-E205-3C14-2C94-3EF1E971CE6A}"/>
              </a:ext>
            </a:extLst>
          </p:cNvPr>
          <p:cNvSpPr txBox="1"/>
          <p:nvPr/>
        </p:nvSpPr>
        <p:spPr>
          <a:xfrm>
            <a:off x="970756" y="5405631"/>
            <a:ext cx="17145794" cy="282129"/>
          </a:xfrm>
          <a:prstGeom prst="rect">
            <a:avLst/>
          </a:prstGeom>
        </p:spPr>
        <p:txBody>
          <a:bodyPr vert="horz" wrap="square" lIns="0" tIns="5080" rIns="0" bIns="0" rtlCol="0">
            <a:spAutoFit/>
          </a:bodyPr>
          <a:lstStyle/>
          <a:p>
            <a:pPr marL="12700">
              <a:lnSpc>
                <a:spcPct val="100000"/>
              </a:lnSpc>
              <a:spcBef>
                <a:spcPts val="100"/>
              </a:spcBef>
            </a:pPr>
            <a:r>
              <a:rPr lang="en-US" dirty="0">
                <a:cs typeface="Source Sans Pro Light"/>
              </a:rPr>
              <a:t>.</a:t>
            </a:r>
          </a:p>
        </p:txBody>
      </p:sp>
      <p:sp>
        <p:nvSpPr>
          <p:cNvPr id="4" name="Footer Placeholder 3">
            <a:extLst>
              <a:ext uri="{FF2B5EF4-FFF2-40B4-BE49-F238E27FC236}">
                <a16:creationId xmlns:a16="http://schemas.microsoft.com/office/drawing/2014/main" id="{06AC57F8-54DC-5C3D-D000-99DF608658A2}"/>
              </a:ext>
            </a:extLst>
          </p:cNvPr>
          <p:cNvSpPr>
            <a:spLocks noGrp="1"/>
          </p:cNvSpPr>
          <p:nvPr>
            <p:ph type="ftr" sz="quarter" idx="11"/>
          </p:nvPr>
        </p:nvSpPr>
        <p:spPr/>
        <p:txBody>
          <a:bodyPr/>
          <a:lstStyle/>
          <a:p>
            <a:r>
              <a:rPr lang="en-US"/>
              <a:t>NARS Exploring Research in Nursing </a:t>
            </a:r>
            <a:endParaRPr lang="cs-CZ"/>
          </a:p>
        </p:txBody>
      </p:sp>
      <p:sp>
        <p:nvSpPr>
          <p:cNvPr id="5" name="Slide Number Placeholder 4">
            <a:extLst>
              <a:ext uri="{FF2B5EF4-FFF2-40B4-BE49-F238E27FC236}">
                <a16:creationId xmlns:a16="http://schemas.microsoft.com/office/drawing/2014/main" id="{96EE088E-5396-5C37-E6F3-A4A163E87492}"/>
              </a:ext>
            </a:extLst>
          </p:cNvPr>
          <p:cNvSpPr>
            <a:spLocks noGrp="1"/>
          </p:cNvSpPr>
          <p:nvPr>
            <p:ph type="sldNum" sz="quarter" idx="12"/>
          </p:nvPr>
        </p:nvSpPr>
        <p:spPr/>
        <p:txBody>
          <a:bodyPr/>
          <a:lstStyle/>
          <a:p>
            <a:fld id="{B6F15528-21DE-4FAA-801E-634DDDAF4B2B}" type="slidenum">
              <a:rPr lang="cs-CZ" smtClean="0"/>
              <a:t>7</a:t>
            </a:fld>
            <a:endParaRPr lang="cs-CZ"/>
          </a:p>
        </p:txBody>
      </p:sp>
    </p:spTree>
    <p:extLst>
      <p:ext uri="{BB962C8B-B14F-4D97-AF65-F5344CB8AC3E}">
        <p14:creationId xmlns:p14="http://schemas.microsoft.com/office/powerpoint/2010/main" val="3770277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66325-F80B-3EA4-E7BF-FEBE4BF51053}"/>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DA410326-873A-0E7D-14A8-53403855F3CA}"/>
              </a:ext>
            </a:extLst>
          </p:cNvPr>
          <p:cNvGrpSpPr/>
          <p:nvPr/>
        </p:nvGrpSpPr>
        <p:grpSpPr>
          <a:xfrm>
            <a:off x="1" y="546100"/>
            <a:ext cx="7219156" cy="828000"/>
            <a:chOff x="564554" y="8642689"/>
            <a:chExt cx="3496471" cy="439424"/>
          </a:xfrm>
        </p:grpSpPr>
        <p:sp>
          <p:nvSpPr>
            <p:cNvPr id="24" name="object 4">
              <a:extLst>
                <a:ext uri="{FF2B5EF4-FFF2-40B4-BE49-F238E27FC236}">
                  <a16:creationId xmlns:a16="http://schemas.microsoft.com/office/drawing/2014/main" id="{CC007173-E65D-4CED-0566-09EF4F601D25}"/>
                </a:ext>
              </a:extLst>
            </p:cNvPr>
            <p:cNvSpPr/>
            <p:nvPr/>
          </p:nvSpPr>
          <p:spPr>
            <a:xfrm>
              <a:off x="564554" y="8642693"/>
              <a:ext cx="3280372" cy="43942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p:spPr>
          <p:txBody>
            <a:bodyPr wrap="square" lIns="0" tIns="0" rIns="0" bIns="0" rtlCol="0"/>
            <a:lstStyle/>
            <a:p>
              <a:endParaRPr lang="en-US"/>
            </a:p>
          </p:txBody>
        </p:sp>
        <p:sp>
          <p:nvSpPr>
            <p:cNvPr id="25" name="object 5">
              <a:extLst>
                <a:ext uri="{FF2B5EF4-FFF2-40B4-BE49-F238E27FC236}">
                  <a16:creationId xmlns:a16="http://schemas.microsoft.com/office/drawing/2014/main" id="{AB0A13B1-01BF-A3AC-778B-2463F5818C3D}"/>
                </a:ext>
              </a:extLst>
            </p:cNvPr>
            <p:cNvSpPr/>
            <p:nvPr/>
          </p:nvSpPr>
          <p:spPr>
            <a:xfrm>
              <a:off x="3621605" y="8642689"/>
              <a:ext cx="439420"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lang="en-US"/>
            </a:p>
          </p:txBody>
        </p:sp>
      </p:grpSp>
      <p:sp>
        <p:nvSpPr>
          <p:cNvPr id="11" name="object 9">
            <a:extLst>
              <a:ext uri="{FF2B5EF4-FFF2-40B4-BE49-F238E27FC236}">
                <a16:creationId xmlns:a16="http://schemas.microsoft.com/office/drawing/2014/main" id="{71310816-8CCE-B685-8460-5CD20A032249}"/>
              </a:ext>
            </a:extLst>
          </p:cNvPr>
          <p:cNvSpPr txBox="1"/>
          <p:nvPr/>
        </p:nvSpPr>
        <p:spPr>
          <a:xfrm>
            <a:off x="360140" y="676685"/>
            <a:ext cx="10439400" cy="566822"/>
          </a:xfrm>
          <a:prstGeom prst="rect">
            <a:avLst/>
          </a:prstGeom>
        </p:spPr>
        <p:txBody>
          <a:bodyPr vert="horz" wrap="square" lIns="0" tIns="12700" rIns="0" bIns="0" rtlCol="0">
            <a:spAutoFit/>
          </a:bodyPr>
          <a:lstStyle/>
          <a:p>
            <a:pPr marL="12700">
              <a:lnSpc>
                <a:spcPct val="100000"/>
              </a:lnSpc>
              <a:spcBef>
                <a:spcPts val="100"/>
              </a:spcBef>
            </a:pPr>
            <a:r>
              <a:rPr lang="en-US" sz="3600" b="1" dirty="0"/>
              <a:t>CONCLUSION</a:t>
            </a:r>
            <a:r>
              <a:rPr lang="en-US" sz="2800" dirty="0">
                <a:cs typeface="Source Sans Pro Light"/>
              </a:rPr>
              <a:t>   </a:t>
            </a:r>
          </a:p>
        </p:txBody>
      </p:sp>
      <p:sp>
        <p:nvSpPr>
          <p:cNvPr id="12" name="object 10">
            <a:extLst>
              <a:ext uri="{FF2B5EF4-FFF2-40B4-BE49-F238E27FC236}">
                <a16:creationId xmlns:a16="http://schemas.microsoft.com/office/drawing/2014/main" id="{9477767D-FBD2-D92A-BD04-0671785178D1}"/>
              </a:ext>
            </a:extLst>
          </p:cNvPr>
          <p:cNvSpPr txBox="1"/>
          <p:nvPr/>
        </p:nvSpPr>
        <p:spPr>
          <a:xfrm>
            <a:off x="345377" y="1888139"/>
            <a:ext cx="17989008" cy="7391767"/>
          </a:xfrm>
          <a:prstGeom prst="rect">
            <a:avLst/>
          </a:prstGeom>
        </p:spPr>
        <p:txBody>
          <a:bodyPr vert="horz" wrap="square" lIns="0" tIns="5080" rIns="0" bIns="0" rtlCol="0">
            <a:spAutoFit/>
          </a:bodyPr>
          <a:lstStyle/>
          <a:p>
            <a:pPr lvl="0"/>
            <a:r>
              <a:rPr lang="en-US" sz="3200" dirty="0"/>
              <a:t>This systematic review’s findings emphasized the multifactorial influences on the adoption of health information, encompassing individual, organizational, and technological elements. Findings exhibit strong alignment with technological theories and global health policies. </a:t>
            </a:r>
          </a:p>
          <a:p>
            <a:pPr lvl="0"/>
            <a:endParaRPr lang="en-US" sz="3200" dirty="0"/>
          </a:p>
          <a:p>
            <a:pPr lvl="0"/>
            <a:r>
              <a:rPr lang="en-US" sz="3200" dirty="0"/>
              <a:t>Although various factors influence the adoption of informatics, barriers remain predominant, particularly in low-to middle-income countries. </a:t>
            </a:r>
          </a:p>
          <a:p>
            <a:pPr lvl="0"/>
            <a:endParaRPr lang="en-US" sz="3200" dirty="0"/>
          </a:p>
          <a:p>
            <a:pPr lvl="0"/>
            <a:r>
              <a:rPr lang="en-US" sz="3200" dirty="0"/>
              <a:t>The findings of this review present a foundational conceptual framework that illustrates the dynamic interplay among individual readiness, technological quality, and organizational support in influencing the adoption of health informatics by nurses and doctors.</a:t>
            </a:r>
          </a:p>
          <a:p>
            <a:pPr lvl="0"/>
            <a:endParaRPr lang="en-US" sz="3200" dirty="0"/>
          </a:p>
          <a:p>
            <a:pPr lvl="0"/>
            <a:r>
              <a:rPr lang="en-US" sz="3200" dirty="0"/>
              <a:t>Successful adoption is contingent not only upon system design but also on leadership support, staff training, organizational culture, and consistent policies aimed at mitigating challenges</a:t>
            </a:r>
          </a:p>
          <a:p>
            <a:pPr lvl="0"/>
            <a:endParaRPr lang="en-US" sz="3200" dirty="0"/>
          </a:p>
          <a:p>
            <a:pPr lvl="0"/>
            <a:r>
              <a:rPr lang="en-US" sz="3200" dirty="0"/>
              <a:t>This finding thereby serves as a guide for future policy, training, and system design improvement. </a:t>
            </a:r>
            <a:endParaRPr lang="en-SC" sz="3200" dirty="0"/>
          </a:p>
        </p:txBody>
      </p:sp>
      <p:sp>
        <p:nvSpPr>
          <p:cNvPr id="20" name="object 9">
            <a:extLst>
              <a:ext uri="{FF2B5EF4-FFF2-40B4-BE49-F238E27FC236}">
                <a16:creationId xmlns:a16="http://schemas.microsoft.com/office/drawing/2014/main" id="{0288878F-DC46-EECD-51DB-07EE9D2686E5}"/>
              </a:ext>
            </a:extLst>
          </p:cNvPr>
          <p:cNvSpPr txBox="1"/>
          <p:nvPr/>
        </p:nvSpPr>
        <p:spPr>
          <a:xfrm>
            <a:off x="675928" y="4266580"/>
            <a:ext cx="10439400" cy="443711"/>
          </a:xfrm>
          <a:prstGeom prst="rect">
            <a:avLst/>
          </a:prstGeom>
        </p:spPr>
        <p:txBody>
          <a:bodyPr vert="horz" wrap="square" lIns="0" tIns="12700" rIns="0" bIns="0" rtlCol="0">
            <a:spAutoFit/>
          </a:bodyPr>
          <a:lstStyle/>
          <a:p>
            <a:pPr marL="12700">
              <a:lnSpc>
                <a:spcPct val="100000"/>
              </a:lnSpc>
              <a:spcBef>
                <a:spcPts val="100"/>
              </a:spcBef>
            </a:pPr>
            <a:r>
              <a:rPr lang="en-US" sz="2800" dirty="0">
                <a:solidFill>
                  <a:srgbClr val="FFFFFF"/>
                </a:solidFill>
                <a:cs typeface="Source Sans Pro Light"/>
              </a:rPr>
              <a:t>2. Discussion – Virus, </a:t>
            </a:r>
            <a:r>
              <a:rPr lang="en-US" sz="2800" spc="-15" dirty="0">
                <a:solidFill>
                  <a:srgbClr val="FFFFFF"/>
                </a:solidFill>
                <a:cs typeface="Source Sans Pro Light"/>
              </a:rPr>
              <a:t>a </a:t>
            </a:r>
            <a:r>
              <a:rPr lang="en-US" sz="2800" spc="-10" dirty="0">
                <a:solidFill>
                  <a:srgbClr val="FFFFFF"/>
                </a:solidFill>
                <a:cs typeface="Source Sans Pro Light"/>
              </a:rPr>
              <a:t>mortal</a:t>
            </a:r>
            <a:r>
              <a:rPr lang="en-US" sz="2800" spc="-55" dirty="0">
                <a:solidFill>
                  <a:srgbClr val="FFFFFF"/>
                </a:solidFill>
                <a:cs typeface="Source Sans Pro Light"/>
              </a:rPr>
              <a:t> </a:t>
            </a:r>
            <a:r>
              <a:rPr lang="en-US" sz="2800" dirty="0">
                <a:solidFill>
                  <a:srgbClr val="FFFFFF"/>
                </a:solidFill>
                <a:cs typeface="Source Sans Pro Light"/>
              </a:rPr>
              <a:t>enemy</a:t>
            </a:r>
            <a:endParaRPr lang="en-US" sz="2800" dirty="0">
              <a:cs typeface="Source Sans Pro Light"/>
            </a:endParaRPr>
          </a:p>
        </p:txBody>
      </p:sp>
      <p:sp>
        <p:nvSpPr>
          <p:cNvPr id="21" name="object 10">
            <a:extLst>
              <a:ext uri="{FF2B5EF4-FFF2-40B4-BE49-F238E27FC236}">
                <a16:creationId xmlns:a16="http://schemas.microsoft.com/office/drawing/2014/main" id="{EB038B70-870B-1225-EE50-F7E929AE333C}"/>
              </a:ext>
            </a:extLst>
          </p:cNvPr>
          <p:cNvSpPr txBox="1"/>
          <p:nvPr/>
        </p:nvSpPr>
        <p:spPr>
          <a:xfrm>
            <a:off x="970756" y="5405631"/>
            <a:ext cx="17145794" cy="282129"/>
          </a:xfrm>
          <a:prstGeom prst="rect">
            <a:avLst/>
          </a:prstGeom>
        </p:spPr>
        <p:txBody>
          <a:bodyPr vert="horz" wrap="square" lIns="0" tIns="5080" rIns="0" bIns="0" rtlCol="0">
            <a:spAutoFit/>
          </a:bodyPr>
          <a:lstStyle/>
          <a:p>
            <a:pPr marL="12700">
              <a:lnSpc>
                <a:spcPct val="100000"/>
              </a:lnSpc>
              <a:spcBef>
                <a:spcPts val="100"/>
              </a:spcBef>
            </a:pPr>
            <a:r>
              <a:rPr lang="en-US" dirty="0">
                <a:cs typeface="Source Sans Pro Light"/>
              </a:rPr>
              <a:t>.</a:t>
            </a:r>
          </a:p>
        </p:txBody>
      </p:sp>
      <p:sp>
        <p:nvSpPr>
          <p:cNvPr id="4" name="Footer Placeholder 3">
            <a:extLst>
              <a:ext uri="{FF2B5EF4-FFF2-40B4-BE49-F238E27FC236}">
                <a16:creationId xmlns:a16="http://schemas.microsoft.com/office/drawing/2014/main" id="{3C8C26DB-E5CB-13DD-BA7E-20CED013BAB6}"/>
              </a:ext>
            </a:extLst>
          </p:cNvPr>
          <p:cNvSpPr>
            <a:spLocks noGrp="1"/>
          </p:cNvSpPr>
          <p:nvPr>
            <p:ph type="ftr" sz="quarter" idx="11"/>
          </p:nvPr>
        </p:nvSpPr>
        <p:spPr/>
        <p:txBody>
          <a:bodyPr/>
          <a:lstStyle/>
          <a:p>
            <a:r>
              <a:rPr lang="en-US"/>
              <a:t>NARS Exploring Research in Nursing </a:t>
            </a:r>
            <a:endParaRPr lang="cs-CZ"/>
          </a:p>
        </p:txBody>
      </p:sp>
      <p:sp>
        <p:nvSpPr>
          <p:cNvPr id="5" name="Slide Number Placeholder 4">
            <a:extLst>
              <a:ext uri="{FF2B5EF4-FFF2-40B4-BE49-F238E27FC236}">
                <a16:creationId xmlns:a16="http://schemas.microsoft.com/office/drawing/2014/main" id="{92378510-0741-3546-56C1-75B34B3EC9D9}"/>
              </a:ext>
            </a:extLst>
          </p:cNvPr>
          <p:cNvSpPr>
            <a:spLocks noGrp="1"/>
          </p:cNvSpPr>
          <p:nvPr>
            <p:ph type="sldNum" sz="quarter" idx="12"/>
          </p:nvPr>
        </p:nvSpPr>
        <p:spPr/>
        <p:txBody>
          <a:bodyPr/>
          <a:lstStyle/>
          <a:p>
            <a:fld id="{B6F15528-21DE-4FAA-801E-634DDDAF4B2B}" type="slidenum">
              <a:rPr lang="cs-CZ" smtClean="0"/>
              <a:t>8</a:t>
            </a:fld>
            <a:endParaRPr lang="cs-CZ"/>
          </a:p>
        </p:txBody>
      </p:sp>
    </p:spTree>
    <p:extLst>
      <p:ext uri="{BB962C8B-B14F-4D97-AF65-F5344CB8AC3E}">
        <p14:creationId xmlns:p14="http://schemas.microsoft.com/office/powerpoint/2010/main" val="471676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CCA2A-794D-531F-9513-1C2567802A51}"/>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9E4597D3-734E-5162-A45E-66ED06375755}"/>
              </a:ext>
            </a:extLst>
          </p:cNvPr>
          <p:cNvGrpSpPr/>
          <p:nvPr/>
        </p:nvGrpSpPr>
        <p:grpSpPr>
          <a:xfrm>
            <a:off x="1" y="546100"/>
            <a:ext cx="7219156" cy="828000"/>
            <a:chOff x="564554" y="8642689"/>
            <a:chExt cx="3496471" cy="439424"/>
          </a:xfrm>
        </p:grpSpPr>
        <p:sp>
          <p:nvSpPr>
            <p:cNvPr id="24" name="object 4">
              <a:extLst>
                <a:ext uri="{FF2B5EF4-FFF2-40B4-BE49-F238E27FC236}">
                  <a16:creationId xmlns:a16="http://schemas.microsoft.com/office/drawing/2014/main" id="{F5B86AAD-007B-D413-C45F-8A72395E482C}"/>
                </a:ext>
              </a:extLst>
            </p:cNvPr>
            <p:cNvSpPr/>
            <p:nvPr/>
          </p:nvSpPr>
          <p:spPr>
            <a:xfrm>
              <a:off x="564554" y="8642693"/>
              <a:ext cx="3280372" cy="43942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p:spPr>
          <p:txBody>
            <a:bodyPr wrap="square" lIns="0" tIns="0" rIns="0" bIns="0" rtlCol="0"/>
            <a:lstStyle/>
            <a:p>
              <a:endParaRPr lang="en-US"/>
            </a:p>
          </p:txBody>
        </p:sp>
        <p:sp>
          <p:nvSpPr>
            <p:cNvPr id="25" name="object 5">
              <a:extLst>
                <a:ext uri="{FF2B5EF4-FFF2-40B4-BE49-F238E27FC236}">
                  <a16:creationId xmlns:a16="http://schemas.microsoft.com/office/drawing/2014/main" id="{F3902DE4-B5A7-F535-6B63-7865B634E93B}"/>
                </a:ext>
              </a:extLst>
            </p:cNvPr>
            <p:cNvSpPr/>
            <p:nvPr/>
          </p:nvSpPr>
          <p:spPr>
            <a:xfrm>
              <a:off x="3621605" y="8642689"/>
              <a:ext cx="439420"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lang="en-US"/>
            </a:p>
          </p:txBody>
        </p:sp>
      </p:grpSp>
      <p:sp>
        <p:nvSpPr>
          <p:cNvPr id="11" name="object 9">
            <a:extLst>
              <a:ext uri="{FF2B5EF4-FFF2-40B4-BE49-F238E27FC236}">
                <a16:creationId xmlns:a16="http://schemas.microsoft.com/office/drawing/2014/main" id="{7B3A1F65-2EFE-2737-13AE-94DED0770A01}"/>
              </a:ext>
            </a:extLst>
          </p:cNvPr>
          <p:cNvSpPr txBox="1"/>
          <p:nvPr/>
        </p:nvSpPr>
        <p:spPr>
          <a:xfrm>
            <a:off x="288132" y="676685"/>
            <a:ext cx="10439400" cy="566822"/>
          </a:xfrm>
          <a:prstGeom prst="rect">
            <a:avLst/>
          </a:prstGeom>
        </p:spPr>
        <p:txBody>
          <a:bodyPr vert="horz" wrap="square" lIns="0" tIns="12700" rIns="0" bIns="0" rtlCol="0">
            <a:spAutoFit/>
          </a:bodyPr>
          <a:lstStyle/>
          <a:p>
            <a:pPr marL="12700">
              <a:lnSpc>
                <a:spcPct val="100000"/>
              </a:lnSpc>
              <a:spcBef>
                <a:spcPts val="100"/>
              </a:spcBef>
            </a:pPr>
            <a:r>
              <a:rPr lang="en-US" sz="3600" b="1" dirty="0"/>
              <a:t>LIMITATIONS </a:t>
            </a:r>
            <a:r>
              <a:rPr lang="en-US" sz="2800" dirty="0">
                <a:cs typeface="Source Sans Pro Light"/>
              </a:rPr>
              <a:t>  </a:t>
            </a:r>
          </a:p>
        </p:txBody>
      </p:sp>
      <p:sp>
        <p:nvSpPr>
          <p:cNvPr id="12" name="object 10">
            <a:extLst>
              <a:ext uri="{FF2B5EF4-FFF2-40B4-BE49-F238E27FC236}">
                <a16:creationId xmlns:a16="http://schemas.microsoft.com/office/drawing/2014/main" id="{CC3FBCA2-A4C9-119B-CD62-3B8E0FC112F1}"/>
              </a:ext>
            </a:extLst>
          </p:cNvPr>
          <p:cNvSpPr txBox="1"/>
          <p:nvPr/>
        </p:nvSpPr>
        <p:spPr>
          <a:xfrm>
            <a:off x="298667" y="2101018"/>
            <a:ext cx="17145794" cy="7453322"/>
          </a:xfrm>
          <a:prstGeom prst="rect">
            <a:avLst/>
          </a:prstGeom>
        </p:spPr>
        <p:txBody>
          <a:bodyPr vert="horz" wrap="square" lIns="0" tIns="5080" rIns="0" bIns="0" rtlCol="0">
            <a:spAutoFit/>
          </a:bodyPr>
          <a:lstStyle/>
          <a:p>
            <a:pPr marL="1028700" lvl="1" indent="-571500">
              <a:buFont typeface="Arial" panose="020B0604020202020204" pitchFamily="34" charset="0"/>
              <a:buChar char="•"/>
            </a:pPr>
            <a:r>
              <a:rPr lang="en-US" sz="4400" dirty="0"/>
              <a:t>This review limitation encompasses restricted geographical representation, variability of methodology, deficient participant demographics in some research studies, and concentration only on peer review studies, thereby neglecting expert opinion or informal evaluation.</a:t>
            </a:r>
          </a:p>
          <a:p>
            <a:pPr lvl="1"/>
            <a:endParaRPr lang="en-US" sz="4400" dirty="0"/>
          </a:p>
          <a:p>
            <a:pPr marL="1028700" lvl="1" indent="-571500">
              <a:buFont typeface="Arial" panose="020B0604020202020204" pitchFamily="34" charset="0"/>
              <a:buChar char="•"/>
            </a:pPr>
            <a:r>
              <a:rPr lang="en-US" sz="4400" dirty="0"/>
              <a:t>Although systematic, the process of coding and synthesis entails a lot of skills, knowledge, time, energy, and effort. However, despite attempts to anchor themes in a theoretical framework, subjective assessment may result in potential bias due to the presence of an individual reviewer. </a:t>
            </a:r>
            <a:endParaRPr lang="en-SC" sz="4400" dirty="0"/>
          </a:p>
        </p:txBody>
      </p:sp>
      <p:sp>
        <p:nvSpPr>
          <p:cNvPr id="20" name="object 9">
            <a:extLst>
              <a:ext uri="{FF2B5EF4-FFF2-40B4-BE49-F238E27FC236}">
                <a16:creationId xmlns:a16="http://schemas.microsoft.com/office/drawing/2014/main" id="{F977930B-34BE-1408-C39A-94B96798A34A}"/>
              </a:ext>
            </a:extLst>
          </p:cNvPr>
          <p:cNvSpPr txBox="1"/>
          <p:nvPr/>
        </p:nvSpPr>
        <p:spPr>
          <a:xfrm>
            <a:off x="675928" y="4266580"/>
            <a:ext cx="10439400" cy="443711"/>
          </a:xfrm>
          <a:prstGeom prst="rect">
            <a:avLst/>
          </a:prstGeom>
        </p:spPr>
        <p:txBody>
          <a:bodyPr vert="horz" wrap="square" lIns="0" tIns="12700" rIns="0" bIns="0" rtlCol="0">
            <a:spAutoFit/>
          </a:bodyPr>
          <a:lstStyle/>
          <a:p>
            <a:pPr marL="12700">
              <a:lnSpc>
                <a:spcPct val="100000"/>
              </a:lnSpc>
              <a:spcBef>
                <a:spcPts val="100"/>
              </a:spcBef>
            </a:pPr>
            <a:r>
              <a:rPr lang="en-US" sz="2800" dirty="0">
                <a:solidFill>
                  <a:srgbClr val="FFFFFF"/>
                </a:solidFill>
                <a:cs typeface="Source Sans Pro Light"/>
              </a:rPr>
              <a:t>2. Discussion – Virus, </a:t>
            </a:r>
            <a:r>
              <a:rPr lang="en-US" sz="2800" spc="-15" dirty="0">
                <a:solidFill>
                  <a:srgbClr val="FFFFFF"/>
                </a:solidFill>
                <a:cs typeface="Source Sans Pro Light"/>
              </a:rPr>
              <a:t>a </a:t>
            </a:r>
            <a:r>
              <a:rPr lang="en-US" sz="2800" spc="-10" dirty="0">
                <a:solidFill>
                  <a:srgbClr val="FFFFFF"/>
                </a:solidFill>
                <a:cs typeface="Source Sans Pro Light"/>
              </a:rPr>
              <a:t>mortal</a:t>
            </a:r>
            <a:r>
              <a:rPr lang="en-US" sz="2800" spc="-55" dirty="0">
                <a:solidFill>
                  <a:srgbClr val="FFFFFF"/>
                </a:solidFill>
                <a:cs typeface="Source Sans Pro Light"/>
              </a:rPr>
              <a:t> </a:t>
            </a:r>
            <a:r>
              <a:rPr lang="en-US" sz="2800" dirty="0">
                <a:solidFill>
                  <a:srgbClr val="FFFFFF"/>
                </a:solidFill>
                <a:cs typeface="Source Sans Pro Light"/>
              </a:rPr>
              <a:t>enemy</a:t>
            </a:r>
            <a:endParaRPr lang="en-US" sz="2800" dirty="0">
              <a:cs typeface="Source Sans Pro Light"/>
            </a:endParaRPr>
          </a:p>
        </p:txBody>
      </p:sp>
      <p:sp>
        <p:nvSpPr>
          <p:cNvPr id="21" name="object 10">
            <a:extLst>
              <a:ext uri="{FF2B5EF4-FFF2-40B4-BE49-F238E27FC236}">
                <a16:creationId xmlns:a16="http://schemas.microsoft.com/office/drawing/2014/main" id="{D9B1C912-5BBC-FDB4-CC24-91BFEE3E4AC6}"/>
              </a:ext>
            </a:extLst>
          </p:cNvPr>
          <p:cNvSpPr txBox="1"/>
          <p:nvPr/>
        </p:nvSpPr>
        <p:spPr>
          <a:xfrm>
            <a:off x="970756" y="5405631"/>
            <a:ext cx="17145794" cy="282129"/>
          </a:xfrm>
          <a:prstGeom prst="rect">
            <a:avLst/>
          </a:prstGeom>
        </p:spPr>
        <p:txBody>
          <a:bodyPr vert="horz" wrap="square" lIns="0" tIns="5080" rIns="0" bIns="0" rtlCol="0">
            <a:spAutoFit/>
          </a:bodyPr>
          <a:lstStyle/>
          <a:p>
            <a:pPr marL="12700">
              <a:lnSpc>
                <a:spcPct val="100000"/>
              </a:lnSpc>
              <a:spcBef>
                <a:spcPts val="100"/>
              </a:spcBef>
            </a:pPr>
            <a:r>
              <a:rPr lang="en-US" dirty="0">
                <a:cs typeface="Source Sans Pro Light"/>
              </a:rPr>
              <a:t>.</a:t>
            </a:r>
          </a:p>
        </p:txBody>
      </p:sp>
      <p:sp>
        <p:nvSpPr>
          <p:cNvPr id="4" name="Footer Placeholder 3">
            <a:extLst>
              <a:ext uri="{FF2B5EF4-FFF2-40B4-BE49-F238E27FC236}">
                <a16:creationId xmlns:a16="http://schemas.microsoft.com/office/drawing/2014/main" id="{F284B3A1-806C-6E34-F64A-3E88EBC79648}"/>
              </a:ext>
            </a:extLst>
          </p:cNvPr>
          <p:cNvSpPr>
            <a:spLocks noGrp="1"/>
          </p:cNvSpPr>
          <p:nvPr>
            <p:ph type="ftr" sz="quarter" idx="11"/>
          </p:nvPr>
        </p:nvSpPr>
        <p:spPr/>
        <p:txBody>
          <a:bodyPr/>
          <a:lstStyle/>
          <a:p>
            <a:r>
              <a:rPr lang="en-US"/>
              <a:t>NARS Exploring Research in Nursing </a:t>
            </a:r>
            <a:endParaRPr lang="cs-CZ"/>
          </a:p>
        </p:txBody>
      </p:sp>
      <p:sp>
        <p:nvSpPr>
          <p:cNvPr id="5" name="Slide Number Placeholder 4">
            <a:extLst>
              <a:ext uri="{FF2B5EF4-FFF2-40B4-BE49-F238E27FC236}">
                <a16:creationId xmlns:a16="http://schemas.microsoft.com/office/drawing/2014/main" id="{3DD5CA50-78C8-0766-510D-BAF1E7C5B3B0}"/>
              </a:ext>
            </a:extLst>
          </p:cNvPr>
          <p:cNvSpPr>
            <a:spLocks noGrp="1"/>
          </p:cNvSpPr>
          <p:nvPr>
            <p:ph type="sldNum" sz="quarter" idx="12"/>
          </p:nvPr>
        </p:nvSpPr>
        <p:spPr/>
        <p:txBody>
          <a:bodyPr/>
          <a:lstStyle/>
          <a:p>
            <a:fld id="{B6F15528-21DE-4FAA-801E-634DDDAF4B2B}" type="slidenum">
              <a:rPr lang="cs-CZ" smtClean="0"/>
              <a:t>9</a:t>
            </a:fld>
            <a:endParaRPr lang="cs-CZ"/>
          </a:p>
        </p:txBody>
      </p:sp>
    </p:spTree>
    <p:extLst>
      <p:ext uri="{BB962C8B-B14F-4D97-AF65-F5344CB8AC3E}">
        <p14:creationId xmlns:p14="http://schemas.microsoft.com/office/powerpoint/2010/main" val="2030690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41419-074A-835E-63D2-ED1537D21B4C}"/>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5E0F2E4A-F057-04F3-C8BB-C3DE27260C72}"/>
              </a:ext>
            </a:extLst>
          </p:cNvPr>
          <p:cNvGrpSpPr/>
          <p:nvPr/>
        </p:nvGrpSpPr>
        <p:grpSpPr>
          <a:xfrm>
            <a:off x="0" y="546100"/>
            <a:ext cx="8641060" cy="1560240"/>
            <a:chOff x="564554" y="8642689"/>
            <a:chExt cx="3496471" cy="439424"/>
          </a:xfrm>
        </p:grpSpPr>
        <p:sp>
          <p:nvSpPr>
            <p:cNvPr id="24" name="object 4">
              <a:extLst>
                <a:ext uri="{FF2B5EF4-FFF2-40B4-BE49-F238E27FC236}">
                  <a16:creationId xmlns:a16="http://schemas.microsoft.com/office/drawing/2014/main" id="{886BCA22-2F68-C2C2-2A0D-B55585B8DC83}"/>
                </a:ext>
              </a:extLst>
            </p:cNvPr>
            <p:cNvSpPr/>
            <p:nvPr/>
          </p:nvSpPr>
          <p:spPr>
            <a:xfrm>
              <a:off x="564554" y="8642693"/>
              <a:ext cx="3280372" cy="439420"/>
            </a:xfrm>
            <a:custGeom>
              <a:avLst/>
              <a:gdLst/>
              <a:ahLst/>
              <a:cxnLst/>
              <a:rect l="l" t="t" r="r" b="b"/>
              <a:pathLst>
                <a:path w="3844925" h="439420">
                  <a:moveTo>
                    <a:pt x="0" y="439204"/>
                  </a:moveTo>
                  <a:lnTo>
                    <a:pt x="3844798" y="439204"/>
                  </a:lnTo>
                  <a:lnTo>
                    <a:pt x="3844798" y="0"/>
                  </a:lnTo>
                  <a:lnTo>
                    <a:pt x="0" y="0"/>
                  </a:lnTo>
                  <a:lnTo>
                    <a:pt x="0" y="439204"/>
                  </a:lnTo>
                  <a:close/>
                </a:path>
              </a:pathLst>
            </a:custGeom>
            <a:solidFill>
              <a:srgbClr val="00A0EF"/>
            </a:solidFill>
          </p:spPr>
          <p:txBody>
            <a:bodyPr wrap="square" lIns="0" tIns="0" rIns="0" bIns="0" rtlCol="0"/>
            <a:lstStyle/>
            <a:p>
              <a:endParaRPr lang="en-US"/>
            </a:p>
          </p:txBody>
        </p:sp>
        <p:sp>
          <p:nvSpPr>
            <p:cNvPr id="25" name="object 5">
              <a:extLst>
                <a:ext uri="{FF2B5EF4-FFF2-40B4-BE49-F238E27FC236}">
                  <a16:creationId xmlns:a16="http://schemas.microsoft.com/office/drawing/2014/main" id="{A9241855-7900-67A8-2F74-81C926035798}"/>
                </a:ext>
              </a:extLst>
            </p:cNvPr>
            <p:cNvSpPr/>
            <p:nvPr/>
          </p:nvSpPr>
          <p:spPr>
            <a:xfrm>
              <a:off x="3621605" y="8642689"/>
              <a:ext cx="439420" cy="439420"/>
            </a:xfrm>
            <a:custGeom>
              <a:avLst/>
              <a:gdLst/>
              <a:ahLst/>
              <a:cxnLst/>
              <a:rect l="l" t="t" r="r" b="b"/>
              <a:pathLst>
                <a:path w="439420" h="439420">
                  <a:moveTo>
                    <a:pt x="219595" y="0"/>
                  </a:moveTo>
                  <a:lnTo>
                    <a:pt x="175337" y="4461"/>
                  </a:lnTo>
                  <a:lnTo>
                    <a:pt x="134116" y="17257"/>
                  </a:lnTo>
                  <a:lnTo>
                    <a:pt x="96815" y="37505"/>
                  </a:lnTo>
                  <a:lnTo>
                    <a:pt x="64315" y="64320"/>
                  </a:lnTo>
                  <a:lnTo>
                    <a:pt x="37502" y="96820"/>
                  </a:lnTo>
                  <a:lnTo>
                    <a:pt x="17256" y="134122"/>
                  </a:lnTo>
                  <a:lnTo>
                    <a:pt x="4461" y="175341"/>
                  </a:lnTo>
                  <a:lnTo>
                    <a:pt x="0" y="219595"/>
                  </a:lnTo>
                  <a:lnTo>
                    <a:pt x="4461" y="263854"/>
                  </a:lnTo>
                  <a:lnTo>
                    <a:pt x="17256" y="305076"/>
                  </a:lnTo>
                  <a:lnTo>
                    <a:pt x="37502" y="342380"/>
                  </a:lnTo>
                  <a:lnTo>
                    <a:pt x="64315" y="374881"/>
                  </a:lnTo>
                  <a:lnTo>
                    <a:pt x="96815" y="401698"/>
                  </a:lnTo>
                  <a:lnTo>
                    <a:pt x="134116" y="421945"/>
                  </a:lnTo>
                  <a:lnTo>
                    <a:pt x="175337" y="434742"/>
                  </a:lnTo>
                  <a:lnTo>
                    <a:pt x="219595" y="439204"/>
                  </a:lnTo>
                  <a:lnTo>
                    <a:pt x="263854" y="434742"/>
                  </a:lnTo>
                  <a:lnTo>
                    <a:pt x="305076" y="421945"/>
                  </a:lnTo>
                  <a:lnTo>
                    <a:pt x="342380" y="401698"/>
                  </a:lnTo>
                  <a:lnTo>
                    <a:pt x="374881" y="374881"/>
                  </a:lnTo>
                  <a:lnTo>
                    <a:pt x="401698" y="342380"/>
                  </a:lnTo>
                  <a:lnTo>
                    <a:pt x="421945" y="305076"/>
                  </a:lnTo>
                  <a:lnTo>
                    <a:pt x="434742" y="263854"/>
                  </a:lnTo>
                  <a:lnTo>
                    <a:pt x="439204" y="219595"/>
                  </a:lnTo>
                  <a:lnTo>
                    <a:pt x="434742" y="175341"/>
                  </a:lnTo>
                  <a:lnTo>
                    <a:pt x="421945" y="134122"/>
                  </a:lnTo>
                  <a:lnTo>
                    <a:pt x="401698" y="96820"/>
                  </a:lnTo>
                  <a:lnTo>
                    <a:pt x="374881" y="64320"/>
                  </a:lnTo>
                  <a:lnTo>
                    <a:pt x="342380" y="37505"/>
                  </a:lnTo>
                  <a:lnTo>
                    <a:pt x="305076" y="17257"/>
                  </a:lnTo>
                  <a:lnTo>
                    <a:pt x="263854" y="4461"/>
                  </a:lnTo>
                  <a:lnTo>
                    <a:pt x="219595" y="0"/>
                  </a:lnTo>
                  <a:close/>
                </a:path>
              </a:pathLst>
            </a:custGeom>
            <a:solidFill>
              <a:srgbClr val="00A0EF"/>
            </a:solidFill>
          </p:spPr>
          <p:txBody>
            <a:bodyPr wrap="square" lIns="0" tIns="0" rIns="0" bIns="0" rtlCol="0"/>
            <a:lstStyle/>
            <a:p>
              <a:endParaRPr lang="en-US"/>
            </a:p>
          </p:txBody>
        </p:sp>
      </p:grpSp>
      <p:sp>
        <p:nvSpPr>
          <p:cNvPr id="11" name="object 9">
            <a:extLst>
              <a:ext uri="{FF2B5EF4-FFF2-40B4-BE49-F238E27FC236}">
                <a16:creationId xmlns:a16="http://schemas.microsoft.com/office/drawing/2014/main" id="{9346E686-E51E-40B5-E95E-20536B4C98C6}"/>
              </a:ext>
            </a:extLst>
          </p:cNvPr>
          <p:cNvSpPr txBox="1"/>
          <p:nvPr/>
        </p:nvSpPr>
        <p:spPr>
          <a:xfrm>
            <a:off x="144116" y="898782"/>
            <a:ext cx="10439400" cy="566822"/>
          </a:xfrm>
          <a:prstGeom prst="rect">
            <a:avLst/>
          </a:prstGeom>
        </p:spPr>
        <p:txBody>
          <a:bodyPr vert="horz" wrap="square" lIns="0" tIns="12700" rIns="0" bIns="0" rtlCol="0">
            <a:spAutoFit/>
          </a:bodyPr>
          <a:lstStyle/>
          <a:p>
            <a:pPr marL="12700">
              <a:spcBef>
                <a:spcPts val="100"/>
              </a:spcBef>
            </a:pPr>
            <a:r>
              <a:rPr lang="en-US" sz="3600" b="1" dirty="0"/>
              <a:t>RECOMMENDATIONS FOR FUTURE WORK</a:t>
            </a:r>
          </a:p>
        </p:txBody>
      </p:sp>
      <p:sp>
        <p:nvSpPr>
          <p:cNvPr id="12" name="object 10">
            <a:extLst>
              <a:ext uri="{FF2B5EF4-FFF2-40B4-BE49-F238E27FC236}">
                <a16:creationId xmlns:a16="http://schemas.microsoft.com/office/drawing/2014/main" id="{00508EB7-417F-CC80-8054-37F984D5AA6E}"/>
              </a:ext>
            </a:extLst>
          </p:cNvPr>
          <p:cNvSpPr txBox="1"/>
          <p:nvPr/>
        </p:nvSpPr>
        <p:spPr>
          <a:xfrm>
            <a:off x="665956" y="2462932"/>
            <a:ext cx="17696184" cy="8745984"/>
          </a:xfrm>
          <a:prstGeom prst="rect">
            <a:avLst/>
          </a:prstGeom>
        </p:spPr>
        <p:txBody>
          <a:bodyPr vert="horz" wrap="square" lIns="0" tIns="5080" rIns="0" bIns="0" rtlCol="0">
            <a:spAutoFit/>
          </a:bodyPr>
          <a:lstStyle/>
          <a:p>
            <a:pPr marL="457200" indent="-457200">
              <a:buFont typeface="Wingdings" panose="05000000000000000000" pitchFamily="2" charset="2"/>
              <a:buChar char="v"/>
            </a:pPr>
            <a:r>
              <a:rPr lang="en-US" sz="3600" dirty="0"/>
              <a:t>This systematic review conceptual framework underscores the necessity of a multifaceted system-thinking approach to healthcare informatics integration. Addressing these obstacles and enhancing facilitators necessitates investment in capacity development, system architecture, and participatory leadership to guarantee sustainable and equitable integration in clinical practices and settings. </a:t>
            </a:r>
          </a:p>
          <a:p>
            <a:endParaRPr lang="en-US" sz="3600" dirty="0"/>
          </a:p>
          <a:p>
            <a:pPr marL="457200" indent="-457200">
              <a:buFont typeface="Wingdings" panose="05000000000000000000" pitchFamily="2" charset="2"/>
              <a:buChar char="v"/>
            </a:pPr>
            <a:r>
              <a:rPr lang="en-US" sz="3600" dirty="0"/>
              <a:t>Extensive research with enhanced methodological rigor, wider geographical representation is recommended. However, such research must incorporate an organizational strength-based perspective.</a:t>
            </a:r>
          </a:p>
          <a:p>
            <a:pPr marL="457200" indent="-457200">
              <a:buFont typeface="Wingdings" panose="05000000000000000000" pitchFamily="2" charset="2"/>
              <a:buChar char="v"/>
            </a:pPr>
            <a:endParaRPr lang="en-US" sz="3600" dirty="0"/>
          </a:p>
          <a:p>
            <a:pPr marL="457200" indent="-457200">
              <a:buFont typeface="Wingdings" panose="05000000000000000000" pitchFamily="2" charset="2"/>
              <a:buChar char="v"/>
            </a:pPr>
            <a:r>
              <a:rPr lang="en-US" sz="3600" dirty="0"/>
              <a:t>There is a necessity for transparent clinical engagement and audit trails in informatics development. This enables users’ comprehension and trust development in the system.</a:t>
            </a:r>
          </a:p>
          <a:p>
            <a:pPr marL="457200" indent="-457200">
              <a:buFont typeface="Wingdings" panose="05000000000000000000" pitchFamily="2" charset="2"/>
              <a:buChar char="v"/>
            </a:pPr>
            <a:endParaRPr lang="en-US" sz="3600" dirty="0"/>
          </a:p>
          <a:p>
            <a:pPr marL="457200" indent="-457200">
              <a:buFont typeface="Wingdings" panose="05000000000000000000" pitchFamily="2" charset="2"/>
              <a:buChar char="v"/>
            </a:pPr>
            <a:r>
              <a:rPr lang="en-US" sz="3600" dirty="0"/>
              <a:t>Training is not a singular event but a continuous endeavor to augment proficiency and assurance within the system. </a:t>
            </a:r>
          </a:p>
          <a:p>
            <a:endParaRPr lang="en-SC" sz="2800" dirty="0"/>
          </a:p>
        </p:txBody>
      </p:sp>
      <p:sp>
        <p:nvSpPr>
          <p:cNvPr id="21" name="object 10">
            <a:extLst>
              <a:ext uri="{FF2B5EF4-FFF2-40B4-BE49-F238E27FC236}">
                <a16:creationId xmlns:a16="http://schemas.microsoft.com/office/drawing/2014/main" id="{362672D2-C01E-99E8-EB89-ED3C1E67D5D6}"/>
              </a:ext>
            </a:extLst>
          </p:cNvPr>
          <p:cNvSpPr txBox="1"/>
          <p:nvPr/>
        </p:nvSpPr>
        <p:spPr>
          <a:xfrm>
            <a:off x="970756" y="5405631"/>
            <a:ext cx="17145794" cy="282129"/>
          </a:xfrm>
          <a:prstGeom prst="rect">
            <a:avLst/>
          </a:prstGeom>
        </p:spPr>
        <p:txBody>
          <a:bodyPr vert="horz" wrap="square" lIns="0" tIns="5080" rIns="0" bIns="0" rtlCol="0">
            <a:spAutoFit/>
          </a:bodyPr>
          <a:lstStyle/>
          <a:p>
            <a:pPr marL="12700">
              <a:lnSpc>
                <a:spcPct val="100000"/>
              </a:lnSpc>
              <a:spcBef>
                <a:spcPts val="100"/>
              </a:spcBef>
            </a:pPr>
            <a:r>
              <a:rPr lang="en-US" dirty="0">
                <a:cs typeface="Source Sans Pro Light"/>
              </a:rPr>
              <a:t>.</a:t>
            </a:r>
          </a:p>
        </p:txBody>
      </p:sp>
      <p:sp>
        <p:nvSpPr>
          <p:cNvPr id="4" name="Footer Placeholder 3">
            <a:extLst>
              <a:ext uri="{FF2B5EF4-FFF2-40B4-BE49-F238E27FC236}">
                <a16:creationId xmlns:a16="http://schemas.microsoft.com/office/drawing/2014/main" id="{16A935AD-A43F-FA58-476B-5ABDE4377C3C}"/>
              </a:ext>
            </a:extLst>
          </p:cNvPr>
          <p:cNvSpPr>
            <a:spLocks noGrp="1"/>
          </p:cNvSpPr>
          <p:nvPr>
            <p:ph type="ftr" sz="quarter" idx="11"/>
          </p:nvPr>
        </p:nvSpPr>
        <p:spPr/>
        <p:txBody>
          <a:bodyPr/>
          <a:lstStyle/>
          <a:p>
            <a:r>
              <a:rPr lang="en-US" dirty="0"/>
              <a:t>NARS Exploring Research in Nursing </a:t>
            </a:r>
            <a:endParaRPr lang="cs-CZ" dirty="0"/>
          </a:p>
        </p:txBody>
      </p:sp>
      <p:sp>
        <p:nvSpPr>
          <p:cNvPr id="5" name="Slide Number Placeholder 4">
            <a:extLst>
              <a:ext uri="{FF2B5EF4-FFF2-40B4-BE49-F238E27FC236}">
                <a16:creationId xmlns:a16="http://schemas.microsoft.com/office/drawing/2014/main" id="{D0FC4914-7D5D-4D2B-8D64-5210FEFD31CF}"/>
              </a:ext>
            </a:extLst>
          </p:cNvPr>
          <p:cNvSpPr>
            <a:spLocks noGrp="1"/>
          </p:cNvSpPr>
          <p:nvPr>
            <p:ph type="sldNum" sz="quarter" idx="12"/>
          </p:nvPr>
        </p:nvSpPr>
        <p:spPr/>
        <p:txBody>
          <a:bodyPr/>
          <a:lstStyle/>
          <a:p>
            <a:fld id="{B6F15528-21DE-4FAA-801E-634DDDAF4B2B}" type="slidenum">
              <a:rPr lang="cs-CZ" smtClean="0"/>
              <a:t>10</a:t>
            </a:fld>
            <a:endParaRPr lang="cs-CZ"/>
          </a:p>
        </p:txBody>
      </p:sp>
    </p:spTree>
    <p:extLst>
      <p:ext uri="{BB962C8B-B14F-4D97-AF65-F5344CB8AC3E}">
        <p14:creationId xmlns:p14="http://schemas.microsoft.com/office/powerpoint/2010/main" val="1988744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EF693-47BA-D75B-E40F-DBD9FF9E7BD1}"/>
            </a:ext>
          </a:extLst>
        </p:cNvPr>
        <p:cNvGrpSpPr/>
        <p:nvPr/>
      </p:nvGrpSpPr>
      <p:grpSpPr>
        <a:xfrm>
          <a:off x="0" y="0"/>
          <a:ext cx="0" cy="0"/>
          <a:chOff x="0" y="0"/>
          <a:chExt cx="0" cy="0"/>
        </a:xfrm>
      </p:grpSpPr>
      <p:grpSp>
        <p:nvGrpSpPr>
          <p:cNvPr id="24" name="Group 23">
            <a:extLst>
              <a:ext uri="{FF2B5EF4-FFF2-40B4-BE49-F238E27FC236}">
                <a16:creationId xmlns:a16="http://schemas.microsoft.com/office/drawing/2014/main" id="{12242273-C668-BBB9-98F4-5ECE8C29F92F}"/>
              </a:ext>
            </a:extLst>
          </p:cNvPr>
          <p:cNvGrpSpPr/>
          <p:nvPr/>
        </p:nvGrpSpPr>
        <p:grpSpPr>
          <a:xfrm>
            <a:off x="0" y="0"/>
            <a:ext cx="19010313" cy="1112119"/>
            <a:chOff x="-324644" y="2222500"/>
            <a:chExt cx="22261685" cy="1302327"/>
          </a:xfrm>
        </p:grpSpPr>
        <p:sp>
          <p:nvSpPr>
            <p:cNvPr id="2" name="object 2">
              <a:extLst>
                <a:ext uri="{FF2B5EF4-FFF2-40B4-BE49-F238E27FC236}">
                  <a16:creationId xmlns:a16="http://schemas.microsoft.com/office/drawing/2014/main" id="{CBACBBB0-15B0-BDFD-974D-8236EBD41103}"/>
                </a:ext>
              </a:extLst>
            </p:cNvPr>
            <p:cNvSpPr/>
            <p:nvPr/>
          </p:nvSpPr>
          <p:spPr>
            <a:xfrm>
              <a:off x="-324644"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009EF3"/>
            </a:solidFill>
          </p:spPr>
          <p:txBody>
            <a:bodyPr wrap="square" lIns="0" tIns="0" rIns="0" bIns="0" rtlCol="0"/>
            <a:lstStyle/>
            <a:p>
              <a:endParaRPr lang="en-US"/>
            </a:p>
          </p:txBody>
        </p:sp>
        <p:sp>
          <p:nvSpPr>
            <p:cNvPr id="3" name="object 3">
              <a:extLst>
                <a:ext uri="{FF2B5EF4-FFF2-40B4-BE49-F238E27FC236}">
                  <a16:creationId xmlns:a16="http://schemas.microsoft.com/office/drawing/2014/main" id="{A3B98AB1-851E-B00A-0F86-A604C9354739}"/>
                </a:ext>
              </a:extLst>
            </p:cNvPr>
            <p:cNvSpPr/>
            <p:nvPr/>
          </p:nvSpPr>
          <p:spPr>
            <a:xfrm>
              <a:off x="16363156" y="2222500"/>
              <a:ext cx="5573885" cy="1302327"/>
            </a:xfrm>
            <a:custGeom>
              <a:avLst/>
              <a:gdLst/>
              <a:ahLst/>
              <a:cxnLst/>
              <a:rect l="l" t="t" r="r" b="b"/>
              <a:pathLst>
                <a:path w="1883409" h="440055">
                  <a:moveTo>
                    <a:pt x="0" y="0"/>
                  </a:moveTo>
                  <a:lnTo>
                    <a:pt x="0" y="439737"/>
                  </a:lnTo>
                  <a:lnTo>
                    <a:pt x="1883155" y="439737"/>
                  </a:lnTo>
                  <a:lnTo>
                    <a:pt x="1883155" y="0"/>
                  </a:lnTo>
                  <a:lnTo>
                    <a:pt x="0" y="0"/>
                  </a:lnTo>
                  <a:close/>
                </a:path>
              </a:pathLst>
            </a:custGeom>
            <a:solidFill>
              <a:srgbClr val="FF8200"/>
            </a:solidFill>
          </p:spPr>
          <p:txBody>
            <a:bodyPr wrap="square" lIns="0" tIns="0" rIns="0" bIns="0" rtlCol="0"/>
            <a:lstStyle/>
            <a:p>
              <a:endParaRPr lang="en-US"/>
            </a:p>
          </p:txBody>
        </p:sp>
        <p:sp>
          <p:nvSpPr>
            <p:cNvPr id="22" name="object 2">
              <a:extLst>
                <a:ext uri="{FF2B5EF4-FFF2-40B4-BE49-F238E27FC236}">
                  <a16:creationId xmlns:a16="http://schemas.microsoft.com/office/drawing/2014/main" id="{A0848604-67ED-942E-6867-5DB87CEB71E1}"/>
                </a:ext>
              </a:extLst>
            </p:cNvPr>
            <p:cNvSpPr/>
            <p:nvPr/>
          </p:nvSpPr>
          <p:spPr>
            <a:xfrm>
              <a:off x="52379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BF00"/>
            </a:solidFill>
          </p:spPr>
          <p:txBody>
            <a:bodyPr wrap="square" lIns="0" tIns="0" rIns="0" bIns="0" rtlCol="0"/>
            <a:lstStyle/>
            <a:p>
              <a:endParaRPr lang="en-US"/>
            </a:p>
          </p:txBody>
        </p:sp>
        <p:sp>
          <p:nvSpPr>
            <p:cNvPr id="23" name="object 2">
              <a:extLst>
                <a:ext uri="{FF2B5EF4-FFF2-40B4-BE49-F238E27FC236}">
                  <a16:creationId xmlns:a16="http://schemas.microsoft.com/office/drawing/2014/main" id="{6DF73E25-B9DC-4DEF-8AB7-5B7487CB4207}"/>
                </a:ext>
              </a:extLst>
            </p:cNvPr>
            <p:cNvSpPr/>
            <p:nvPr/>
          </p:nvSpPr>
          <p:spPr>
            <a:xfrm>
              <a:off x="10800556" y="2222500"/>
              <a:ext cx="5600193" cy="1302327"/>
            </a:xfrm>
            <a:custGeom>
              <a:avLst/>
              <a:gdLst/>
              <a:ahLst/>
              <a:cxnLst/>
              <a:rect l="l" t="t" r="r" b="b"/>
              <a:pathLst>
                <a:path w="1892300" h="440055">
                  <a:moveTo>
                    <a:pt x="0" y="439737"/>
                  </a:moveTo>
                  <a:lnTo>
                    <a:pt x="1892300" y="439737"/>
                  </a:lnTo>
                  <a:lnTo>
                    <a:pt x="1892300" y="0"/>
                  </a:lnTo>
                  <a:lnTo>
                    <a:pt x="0" y="0"/>
                  </a:lnTo>
                  <a:lnTo>
                    <a:pt x="0" y="439737"/>
                  </a:lnTo>
                  <a:close/>
                </a:path>
              </a:pathLst>
            </a:custGeom>
            <a:solidFill>
              <a:srgbClr val="FFA100"/>
            </a:solidFill>
          </p:spPr>
          <p:txBody>
            <a:bodyPr wrap="square" lIns="0" tIns="0" rIns="0" bIns="0" rtlCol="0"/>
            <a:lstStyle/>
            <a:p>
              <a:endParaRPr lang="en-US"/>
            </a:p>
          </p:txBody>
        </p:sp>
      </p:grpSp>
      <p:sp>
        <p:nvSpPr>
          <p:cNvPr id="18" name="object 18">
            <a:extLst>
              <a:ext uri="{FF2B5EF4-FFF2-40B4-BE49-F238E27FC236}">
                <a16:creationId xmlns:a16="http://schemas.microsoft.com/office/drawing/2014/main" id="{45CA77B8-97C6-0EED-B528-41C7A1F89124}"/>
              </a:ext>
            </a:extLst>
          </p:cNvPr>
          <p:cNvSpPr txBox="1"/>
          <p:nvPr/>
        </p:nvSpPr>
        <p:spPr>
          <a:xfrm>
            <a:off x="3888532" y="4074165"/>
            <a:ext cx="9677400" cy="1101135"/>
          </a:xfrm>
          <a:prstGeom prst="rect">
            <a:avLst/>
          </a:prstGeom>
        </p:spPr>
        <p:txBody>
          <a:bodyPr vert="horz" wrap="square" lIns="0" tIns="12700" rIns="0" bIns="0" rtlCol="0">
            <a:spAutoFit/>
          </a:bodyPr>
          <a:lstStyle/>
          <a:p>
            <a:pPr marL="12700" marR="5080" indent="360680" algn="ctr">
              <a:lnSpc>
                <a:spcPct val="102400"/>
              </a:lnSpc>
            </a:pPr>
            <a:r>
              <a:rPr lang="en-US" sz="7200" dirty="0">
                <a:cs typeface="Source Sans Pro"/>
              </a:rPr>
              <a:t>Thank you</a:t>
            </a:r>
          </a:p>
        </p:txBody>
      </p:sp>
      <p:sp>
        <p:nvSpPr>
          <p:cNvPr id="19" name="object 19">
            <a:extLst>
              <a:ext uri="{FF2B5EF4-FFF2-40B4-BE49-F238E27FC236}">
                <a16:creationId xmlns:a16="http://schemas.microsoft.com/office/drawing/2014/main" id="{10FD1592-22AC-EAA5-E88A-9FBDDD6F868C}"/>
              </a:ext>
            </a:extLst>
          </p:cNvPr>
          <p:cNvSpPr/>
          <p:nvPr/>
        </p:nvSpPr>
        <p:spPr>
          <a:xfrm flipV="1">
            <a:off x="3600500" y="4900981"/>
            <a:ext cx="9601200" cy="274319"/>
          </a:xfrm>
          <a:custGeom>
            <a:avLst/>
            <a:gdLst/>
            <a:ahLst/>
            <a:cxnLst/>
            <a:rect l="l" t="t" r="r" b="b"/>
            <a:pathLst>
              <a:path w="4686300">
                <a:moveTo>
                  <a:pt x="0" y="0"/>
                </a:moveTo>
                <a:lnTo>
                  <a:pt x="4686300" y="0"/>
                </a:lnTo>
              </a:path>
            </a:pathLst>
          </a:custGeom>
          <a:ln w="8466">
            <a:solidFill>
              <a:srgbClr val="002E8E"/>
            </a:solidFill>
          </a:ln>
        </p:spPr>
        <p:txBody>
          <a:bodyPr wrap="square" lIns="0" tIns="0" rIns="0" bIns="0" rtlCol="0"/>
          <a:lstStyle/>
          <a:p>
            <a:pPr algn="ctr"/>
            <a:endParaRPr lang="en-US"/>
          </a:p>
        </p:txBody>
      </p:sp>
      <p:sp>
        <p:nvSpPr>
          <p:cNvPr id="20" name="object 20">
            <a:extLst>
              <a:ext uri="{FF2B5EF4-FFF2-40B4-BE49-F238E27FC236}">
                <a16:creationId xmlns:a16="http://schemas.microsoft.com/office/drawing/2014/main" id="{F9F688C5-1EDC-F04F-5569-B70215949A96}"/>
              </a:ext>
            </a:extLst>
          </p:cNvPr>
          <p:cNvSpPr txBox="1"/>
          <p:nvPr/>
        </p:nvSpPr>
        <p:spPr>
          <a:xfrm>
            <a:off x="5219725" y="5850756"/>
            <a:ext cx="7888372" cy="2228815"/>
          </a:xfrm>
          <a:prstGeom prst="rect">
            <a:avLst/>
          </a:prstGeom>
        </p:spPr>
        <p:txBody>
          <a:bodyPr vert="horz" wrap="square" lIns="0" tIns="12700" rIns="0" bIns="0" rtlCol="0">
            <a:spAutoFit/>
          </a:bodyPr>
          <a:lstStyle/>
          <a:p>
            <a:pPr marL="12700" algn="ctr">
              <a:lnSpc>
                <a:spcPct val="100000"/>
              </a:lnSpc>
              <a:spcBef>
                <a:spcPts val="100"/>
              </a:spcBef>
            </a:pPr>
            <a:r>
              <a:rPr lang="en-US" sz="4800" spc="-5" dirty="0">
                <a:cs typeface="Source Sans Pro Light"/>
              </a:rPr>
              <a:t>I HAVE A DREAM &amp; SO DO YOU, THEREBY JUSTIFYING THE REASON WE ARE ALL HERE</a:t>
            </a:r>
          </a:p>
        </p:txBody>
      </p:sp>
      <p:sp>
        <p:nvSpPr>
          <p:cNvPr id="10" name="Rectangle 1">
            <a:extLst>
              <a:ext uri="{FF2B5EF4-FFF2-40B4-BE49-F238E27FC236}">
                <a16:creationId xmlns:a16="http://schemas.microsoft.com/office/drawing/2014/main" id="{A37C3DD8-11B1-A78E-C790-311491F1619F}"/>
              </a:ext>
            </a:extLst>
          </p:cNvPr>
          <p:cNvSpPr>
            <a:spLocks noChangeArrowheads="1"/>
          </p:cNvSpPr>
          <p:nvPr/>
        </p:nvSpPr>
        <p:spPr bwMode="auto">
          <a:xfrm>
            <a:off x="0" y="0"/>
            <a:ext cx="19010313"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SC"/>
          </a:p>
        </p:txBody>
      </p:sp>
      <p:pic>
        <p:nvPicPr>
          <p:cNvPr id="12" name="Picture 11" descr="A yellow and blue logo&#10;&#10;AI-generated content may be incorrect.">
            <a:extLst>
              <a:ext uri="{FF2B5EF4-FFF2-40B4-BE49-F238E27FC236}">
                <a16:creationId xmlns:a16="http://schemas.microsoft.com/office/drawing/2014/main" id="{5EBF24CF-E600-A3E6-E9C5-C76DD70F1348}"/>
              </a:ext>
            </a:extLst>
          </p:cNvPr>
          <p:cNvPicPr>
            <a:picLocks noChangeAspect="1"/>
          </p:cNvPicPr>
          <p:nvPr/>
        </p:nvPicPr>
        <p:blipFill>
          <a:blip r:embed="rId3" cstate="print">
            <a:extLst>
              <a:ext uri="{28A0092B-C50C-407E-A947-70E740481C1C}">
                <a14:useLocalDpi xmlns:a14="http://schemas.microsoft.com/office/drawing/2010/main" val="0"/>
              </a:ext>
            </a:extLst>
          </a:blip>
          <a:srcRect l="20475" t="30884" r="16564" b="29612"/>
          <a:stretch>
            <a:fillRect/>
          </a:stretch>
        </p:blipFill>
        <p:spPr>
          <a:xfrm>
            <a:off x="15769852" y="1112119"/>
            <a:ext cx="3096344" cy="2576341"/>
          </a:xfrm>
          <a:prstGeom prst="rect">
            <a:avLst/>
          </a:prstGeom>
        </p:spPr>
      </p:pic>
      <p:sp>
        <p:nvSpPr>
          <p:cNvPr id="6" name="Footer Placeholder 5">
            <a:extLst>
              <a:ext uri="{FF2B5EF4-FFF2-40B4-BE49-F238E27FC236}">
                <a16:creationId xmlns:a16="http://schemas.microsoft.com/office/drawing/2014/main" id="{E3A7B496-2284-63FA-7713-B15A77AF4D7C}"/>
              </a:ext>
            </a:extLst>
          </p:cNvPr>
          <p:cNvSpPr>
            <a:spLocks noGrp="1"/>
          </p:cNvSpPr>
          <p:nvPr>
            <p:ph type="ftr" sz="quarter" idx="11"/>
          </p:nvPr>
        </p:nvSpPr>
        <p:spPr/>
        <p:txBody>
          <a:bodyPr/>
          <a:lstStyle/>
          <a:p>
            <a:r>
              <a:rPr lang="en-US"/>
              <a:t>NARS Exploring Research in Nursing </a:t>
            </a:r>
            <a:endParaRPr lang="cs-CZ"/>
          </a:p>
        </p:txBody>
      </p:sp>
      <p:sp>
        <p:nvSpPr>
          <p:cNvPr id="7" name="Slide Number Placeholder 6">
            <a:extLst>
              <a:ext uri="{FF2B5EF4-FFF2-40B4-BE49-F238E27FC236}">
                <a16:creationId xmlns:a16="http://schemas.microsoft.com/office/drawing/2014/main" id="{05BBBF2D-17DE-B7C7-E1AD-52D6E4334888}"/>
              </a:ext>
            </a:extLst>
          </p:cNvPr>
          <p:cNvSpPr>
            <a:spLocks noGrp="1"/>
          </p:cNvSpPr>
          <p:nvPr>
            <p:ph type="sldNum" sz="quarter" idx="12"/>
          </p:nvPr>
        </p:nvSpPr>
        <p:spPr/>
        <p:txBody>
          <a:bodyPr/>
          <a:lstStyle/>
          <a:p>
            <a:fld id="{B6F15528-21DE-4FAA-801E-634DDDAF4B2B}" type="slidenum">
              <a:rPr lang="cs-CZ" smtClean="0"/>
              <a:t>11</a:t>
            </a:fld>
            <a:endParaRPr lang="cs-CZ"/>
          </a:p>
        </p:txBody>
      </p:sp>
    </p:spTree>
    <p:extLst>
      <p:ext uri="{BB962C8B-B14F-4D97-AF65-F5344CB8AC3E}">
        <p14:creationId xmlns:p14="http://schemas.microsoft.com/office/powerpoint/2010/main" val="4004353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hat is a virus_tf78104741" id="{F41455D0-318E-4830-999E-F58477E69777}" vid="{11D173C9-935D-450A-9A98-C9569F6DA2C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a virus</Template>
  <TotalTime>333</TotalTime>
  <Words>1379</Words>
  <Application>Microsoft Office PowerPoint</Application>
  <PresentationFormat>Custom</PresentationFormat>
  <Paragraphs>152</Paragraphs>
  <Slides>11</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Calibri</vt:lpstr>
      <vt:lpstr>Calibri Light</vt:lpstr>
      <vt:lpstr>Google Sans</vt:lpstr>
      <vt:lpstr>Source Sans Pro</vt:lpstr>
      <vt:lpstr>Source Sans Pro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NARS</dc:creator>
  <cp:lastModifiedBy>ESTHER</cp:lastModifiedBy>
  <cp:revision>89</cp:revision>
  <dcterms:created xsi:type="dcterms:W3CDTF">2025-11-22T04:06:59Z</dcterms:created>
  <dcterms:modified xsi:type="dcterms:W3CDTF">2025-12-30T18:16:32Z</dcterms:modified>
</cp:coreProperties>
</file>